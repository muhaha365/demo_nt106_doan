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Ước lượng công sức và bảng nhật ký trong docs/03-tien-do.md. Điền người phụ trách, giờ thực tế và deadline lớp. Không trình bày lịch đề xuất như công việc nhóm đã thực hiện.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Ảnh từ UI smoke chạy server và client thật với dữ liệu test riêng. Chỉ ra danh sách hội thoại, group owner, bong bóng, timestamp, seen, đính kèm và tìm kiếm.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Chuẩn bị video MP4 dự phòng 5–8 phút, quay sau khi nhóm diễn tập. Chưa có video trong bản bàn giao. Xem docs/04-demo.md.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058400" cy="365760"/>
          </a:xfrm>
          <a:prstGeom prst="rect">
            <a:avLst/>
          </a:prstGeom>
          <a:noFill/>
        </p:spPr>
        <p:txBody>
          <a:bodyPr wrap="square">
            <a:spAutoFit/>
          </a:bodyPr>
          <a:lstStyle/>
          <a:p>
            <a:pPr>
              <a:spcAft>
                <a:spcPts val="1200"/>
              </a:spcAft>
              <a:defRPr sz="1100" b="1">
                <a:solidFill>
                  <a:srgbClr val="0F766E"/>
                </a:solidFill>
                <a:latin typeface="Calibri"/>
              </a:defRPr>
            </a:pPr>
            <a:r>
              <a:t>C# WINFORMS / TCP SOCKET / CLIENT–SERVER</a:t>
            </a:r>
          </a:p>
        </p:txBody>
      </p:sp>
      <p:sp>
        <p:nvSpPr>
          <p:cNvPr id="4" name="TextBox 3"/>
          <p:cNvSpPr txBox="1"/>
          <p:nvPr/>
        </p:nvSpPr>
        <p:spPr>
          <a:xfrm>
            <a:off x="548640" y="777240"/>
            <a:ext cx="10972800" cy="1005840"/>
          </a:xfrm>
          <a:prstGeom prst="rect">
            <a:avLst/>
          </a:prstGeom>
          <a:noFill/>
        </p:spPr>
        <p:txBody>
          <a:bodyPr wrap="square">
            <a:spAutoFit/>
          </a:bodyPr>
          <a:lstStyle/>
          <a:p>
            <a:pPr>
              <a:spcAft>
                <a:spcPts val="1200"/>
              </a:spcAft>
              <a:defRPr sz="3200" b="1">
                <a:solidFill>
                  <a:srgbClr val="182D30"/>
                </a:solidFill>
                <a:latin typeface="Calibri"/>
              </a:defRPr>
            </a:pPr>
            <a:r>
              <a:t>UIT Chat</a:t>
            </a:r>
          </a:p>
        </p:txBody>
      </p:sp>
      <p:sp>
        <p:nvSpPr>
          <p:cNvPr id="5" name="TextBox 4"/>
          <p:cNvSpPr txBox="1"/>
          <p:nvPr/>
        </p:nvSpPr>
        <p:spPr>
          <a:xfrm>
            <a:off x="594360" y="6446520"/>
            <a:ext cx="10058400" cy="274320"/>
          </a:xfrm>
          <a:prstGeom prst="rect">
            <a:avLst/>
          </a:prstGeom>
          <a:noFill/>
        </p:spPr>
        <p:txBody>
          <a:bodyPr wrap="square">
            <a:spAutoFit/>
          </a:bodyPr>
          <a:lstStyle/>
          <a:p>
            <a:pPr>
              <a:spcAft>
                <a:spcPts val="1200"/>
              </a:spcAft>
              <a:defRPr sz="1000" b="0">
                <a:solidFill>
                  <a:srgbClr val="6B7D80"/>
                </a:solidFill>
                <a:latin typeface="Calibri"/>
              </a:defRPr>
            </a:pPr>
            <a:r>
              <a:t>UIT / CHAT · Bản khởi đầu — bổ sung thông tin nhóm và kết quả LAN</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200"/>
              </a:spcAft>
              <a:defRPr sz="1100" b="1">
                <a:solidFill>
                  <a:srgbClr val="0F766E"/>
                </a:solidFill>
                <a:latin typeface="Calibri"/>
              </a:defRPr>
            </a:pPr>
            <a:r>
              <a:t>01</a:t>
            </a:r>
          </a:p>
        </p:txBody>
      </p:sp>
      <p:sp>
        <p:nvSpPr>
          <p:cNvPr id="7" name="TextBox 6"/>
          <p:cNvSpPr txBox="1"/>
          <p:nvPr/>
        </p:nvSpPr>
        <p:spPr>
          <a:xfrm>
            <a:off x="731520" y="1828800"/>
            <a:ext cx="7315200" cy="2011680"/>
          </a:xfrm>
          <a:prstGeom prst="rect">
            <a:avLst/>
          </a:prstGeom>
          <a:noFill/>
        </p:spPr>
        <p:txBody>
          <a:bodyPr wrap="square">
            <a:spAutoFit/>
          </a:bodyPr>
          <a:lstStyle/>
          <a:p>
            <a:pPr>
              <a:spcAft>
                <a:spcPts val="1200"/>
              </a:spcAft>
              <a:defRPr sz="4000" b="1">
                <a:solidFill>
                  <a:srgbClr val="0F766E"/>
                </a:solidFill>
                <a:latin typeface="Calibri"/>
              </a:defRPr>
            </a:pPr>
            <a:r>
              <a:t>Kết nối bạn bè.</a:t>
            </a:r>
          </a:p>
          <a:p>
            <a:pPr>
              <a:spcAft>
                <a:spcPts val="1200"/>
              </a:spcAft>
              <a:defRPr sz="4000" b="1">
                <a:solidFill>
                  <a:srgbClr val="0F766E"/>
                </a:solidFill>
                <a:latin typeface="Calibri"/>
              </a:defRPr>
            </a:pPr>
            <a:r>
              <a:t>Chia sẻ mỗi ngày.</a:t>
            </a:r>
          </a:p>
        </p:txBody>
      </p:sp>
      <p:sp>
        <p:nvSpPr>
          <p:cNvPr id="8" name="TextBox 7"/>
          <p:cNvSpPr txBox="1"/>
          <p:nvPr/>
        </p:nvSpPr>
        <p:spPr>
          <a:xfrm>
            <a:off x="777240" y="4389120"/>
            <a:ext cx="10058400" cy="1371600"/>
          </a:xfrm>
          <a:prstGeom prst="rect">
            <a:avLst/>
          </a:prstGeom>
          <a:noFill/>
        </p:spPr>
        <p:txBody>
          <a:bodyPr wrap="square">
            <a:spAutoFit/>
          </a:bodyPr>
          <a:lstStyle/>
          <a:p>
            <a:pPr>
              <a:spcAft>
                <a:spcPts val="1200"/>
              </a:spcAft>
              <a:defRPr sz="2000" b="0">
                <a:solidFill>
                  <a:srgbClr val="6B7D80"/>
                </a:solidFill>
                <a:latin typeface="Calibri"/>
              </a:defRPr>
            </a:pPr>
            <a:r>
              <a:t>Nhóm: [điền]    ·    Thành viên / MSSV: [điền]</a:t>
            </a:r>
          </a:p>
          <a:p>
            <a:pPr>
              <a:spcAft>
                <a:spcPts val="1200"/>
              </a:spcAft>
              <a:defRPr sz="2000" b="0">
                <a:solidFill>
                  <a:srgbClr val="6B7D80"/>
                </a:solidFill>
                <a:latin typeface="Calibri"/>
              </a:defRPr>
            </a:pPr>
            <a:r>
              <a:t>Giảng viên / lớp: [điền]</a:t>
            </a:r>
          </a:p>
          <a:p>
            <a:pPr>
              <a:spcAft>
                <a:spcPts val="1200"/>
              </a:spcAft>
              <a:defRPr sz="2000" b="0">
                <a:solidFill>
                  <a:srgbClr val="6B7D80"/>
                </a:solidFill>
                <a:latin typeface="Calibri"/>
              </a:defRPr>
            </a:pPr>
            <a:r>
              <a:t>Năm học 2026–2027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058400" cy="365760"/>
          </a:xfrm>
          <a:prstGeom prst="rect">
            <a:avLst/>
          </a:prstGeom>
          <a:noFill/>
        </p:spPr>
        <p:txBody>
          <a:bodyPr wrap="square">
            <a:spAutoFit/>
          </a:bodyPr>
          <a:lstStyle/>
          <a:p>
            <a:pPr>
              <a:spcAft>
                <a:spcPts val="1200"/>
              </a:spcAft>
              <a:defRPr sz="1100" b="1">
                <a:solidFill>
                  <a:srgbClr val="0F766E"/>
                </a:solidFill>
                <a:latin typeface="Calibri"/>
              </a:defRPr>
            </a:pPr>
            <a:r>
              <a:t>ĐỒ ÁN NT106</a:t>
            </a:r>
          </a:p>
        </p:txBody>
      </p:sp>
      <p:sp>
        <p:nvSpPr>
          <p:cNvPr id="4" name="TextBox 3"/>
          <p:cNvSpPr txBox="1"/>
          <p:nvPr/>
        </p:nvSpPr>
        <p:spPr>
          <a:xfrm>
            <a:off x="548640" y="777240"/>
            <a:ext cx="10972800" cy="1005840"/>
          </a:xfrm>
          <a:prstGeom prst="rect">
            <a:avLst/>
          </a:prstGeom>
          <a:noFill/>
        </p:spPr>
        <p:txBody>
          <a:bodyPr wrap="square">
            <a:spAutoFit/>
          </a:bodyPr>
          <a:lstStyle/>
          <a:p>
            <a:pPr>
              <a:spcAft>
                <a:spcPts val="1200"/>
              </a:spcAft>
              <a:defRPr sz="3200" b="1">
                <a:solidFill>
                  <a:srgbClr val="182D30"/>
                </a:solidFill>
                <a:latin typeface="Calibri"/>
              </a:defRPr>
            </a:pPr>
            <a:r>
              <a:t>Bài toán và tính thực tiễn</a:t>
            </a:r>
          </a:p>
        </p:txBody>
      </p:sp>
      <p:sp>
        <p:nvSpPr>
          <p:cNvPr id="5" name="TextBox 4"/>
          <p:cNvSpPr txBox="1"/>
          <p:nvPr/>
        </p:nvSpPr>
        <p:spPr>
          <a:xfrm>
            <a:off x="594360" y="6446520"/>
            <a:ext cx="10058400" cy="274320"/>
          </a:xfrm>
          <a:prstGeom prst="rect">
            <a:avLst/>
          </a:prstGeom>
          <a:noFill/>
        </p:spPr>
        <p:txBody>
          <a:bodyPr wrap="square">
            <a:spAutoFit/>
          </a:bodyPr>
          <a:lstStyle/>
          <a:p>
            <a:pPr>
              <a:spcAft>
                <a:spcPts val="1200"/>
              </a:spcAft>
              <a:defRPr sz="1000" b="0">
                <a:solidFill>
                  <a:srgbClr val="6B7D80"/>
                </a:solidFill>
                <a:latin typeface="Calibri"/>
              </a:defRPr>
            </a:pPr>
            <a:r>
              <a:t>UIT / CHAT · Bản khởi đầu — bổ sung thông tin nhóm và kết quả LAN</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200"/>
              </a:spcAft>
              <a:defRPr sz="1100" b="1">
                <a:solidFill>
                  <a:srgbClr val="0F766E"/>
                </a:solidFill>
                <a:latin typeface="Calibri"/>
              </a:defRPr>
            </a:pPr>
            <a:r>
              <a:t>02</a:t>
            </a:r>
          </a:p>
        </p:txBody>
      </p:sp>
      <p:sp>
        <p:nvSpPr>
          <p:cNvPr id="7" name="Rounded Rectangle 6"/>
          <p:cNvSpPr/>
          <p:nvPr/>
        </p:nvSpPr>
        <p:spPr>
          <a:xfrm>
            <a:off x="594360" y="1828800"/>
            <a:ext cx="5349240" cy="4206240"/>
          </a:xfrm>
          <a:prstGeom prst="roundRect">
            <a:avLst/>
          </a:prstGeom>
          <a:solidFill>
            <a:srgbClr val="E5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72200" y="1828800"/>
            <a:ext cx="5349240"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57400"/>
            <a:ext cx="4754880" cy="548640"/>
          </a:xfrm>
          <a:prstGeom prst="rect">
            <a:avLst/>
          </a:prstGeom>
          <a:noFill/>
        </p:spPr>
        <p:txBody>
          <a:bodyPr wrap="square">
            <a:spAutoFit/>
          </a:bodyPr>
          <a:lstStyle/>
          <a:p>
            <a:pPr>
              <a:spcAft>
                <a:spcPts val="1200"/>
              </a:spcAft>
              <a:defRPr sz="2400" b="1">
                <a:solidFill>
                  <a:srgbClr val="0F766E"/>
                </a:solidFill>
                <a:latin typeface="Calibri"/>
              </a:defRPr>
            </a:pPr>
            <a:r>
              <a:t>Nhu cầu</a:t>
            </a:r>
          </a:p>
        </p:txBody>
      </p:sp>
      <p:sp>
        <p:nvSpPr>
          <p:cNvPr id="10" name="TextBox 9"/>
          <p:cNvSpPr txBox="1"/>
          <p:nvPr/>
        </p:nvSpPr>
        <p:spPr>
          <a:xfrm>
            <a:off x="6446520" y="2057400"/>
            <a:ext cx="4754880" cy="548640"/>
          </a:xfrm>
          <a:prstGeom prst="rect">
            <a:avLst/>
          </a:prstGeom>
          <a:noFill/>
        </p:spPr>
        <p:txBody>
          <a:bodyPr wrap="square">
            <a:spAutoFit/>
          </a:bodyPr>
          <a:lstStyle/>
          <a:p>
            <a:pPr>
              <a:spcAft>
                <a:spcPts val="1200"/>
              </a:spcAft>
              <a:defRPr sz="2400" b="1">
                <a:solidFill>
                  <a:srgbClr val="0F766E"/>
                </a:solidFill>
                <a:latin typeface="Calibri"/>
              </a:defRPr>
            </a:pPr>
            <a:r>
              <a:t>Phạm vi bản hiện tại</a:t>
            </a:r>
          </a:p>
        </p:txBody>
      </p:sp>
      <p:sp>
        <p:nvSpPr>
          <p:cNvPr id="11" name="TextBox 10"/>
          <p:cNvSpPr txBox="1"/>
          <p:nvPr/>
        </p:nvSpPr>
        <p:spPr>
          <a:xfrm>
            <a:off x="868680" y="2743200"/>
            <a:ext cx="4663440" cy="3108960"/>
          </a:xfrm>
          <a:prstGeom prst="rect">
            <a:avLst/>
          </a:prstGeom>
          <a:noFill/>
        </p:spPr>
        <p:txBody>
          <a:bodyPr wrap="square">
            <a:spAutoFit/>
          </a:bodyPr>
          <a:lstStyle/>
          <a:p>
            <a:pPr>
              <a:spcAft>
                <a:spcPts val="1200"/>
              </a:spcAft>
              <a:defRPr sz="2100" b="0">
                <a:solidFill>
                  <a:srgbClr val="182D30"/>
                </a:solidFill>
                <a:latin typeface="Calibri"/>
              </a:defRPr>
            </a:pPr>
            <a:r>
              <a:t>• Trao đổi trong nhóm học tập</a:t>
            </a:r>
          </a:p>
          <a:p>
            <a:pPr>
              <a:spcAft>
                <a:spcPts val="1200"/>
              </a:spcAft>
              <a:defRPr sz="2100" b="0">
                <a:solidFill>
                  <a:srgbClr val="182D30"/>
                </a:solidFill>
                <a:latin typeface="Calibri"/>
              </a:defRPr>
            </a:pPr>
            <a:r>
              <a:t>• Chat riêng và phối hợp theo nhóm</a:t>
            </a:r>
          </a:p>
          <a:p>
            <a:pPr>
              <a:spcAft>
                <a:spcPts val="1200"/>
              </a:spcAft>
              <a:defRPr sz="2100" b="0">
                <a:solidFill>
                  <a:srgbClr val="182D30"/>
                </a:solidFill>
                <a:latin typeface="Calibri"/>
              </a:defRPr>
            </a:pPr>
            <a:r>
              <a:t>• Tìm lại nội dung, chia sẻ tài liệu</a:t>
            </a:r>
          </a:p>
        </p:txBody>
      </p:sp>
      <p:sp>
        <p:nvSpPr>
          <p:cNvPr id="12" name="TextBox 11"/>
          <p:cNvSpPr txBox="1"/>
          <p:nvPr/>
        </p:nvSpPr>
        <p:spPr>
          <a:xfrm>
            <a:off x="6446520" y="2743200"/>
            <a:ext cx="4663440" cy="3108960"/>
          </a:xfrm>
          <a:prstGeom prst="rect">
            <a:avLst/>
          </a:prstGeom>
          <a:noFill/>
        </p:spPr>
        <p:txBody>
          <a:bodyPr wrap="square">
            <a:spAutoFit/>
          </a:bodyPr>
          <a:lstStyle/>
          <a:p>
            <a:pPr>
              <a:spcAft>
                <a:spcPts val="1200"/>
              </a:spcAft>
              <a:defRPr sz="2100" b="0">
                <a:solidFill>
                  <a:srgbClr val="182D30"/>
                </a:solidFill>
                <a:latin typeface="Calibri"/>
              </a:defRPr>
            </a:pPr>
            <a:r>
              <a:t>• Desktop Windows, mạng LAN</a:t>
            </a:r>
          </a:p>
          <a:p>
            <a:pPr>
              <a:spcAft>
                <a:spcPts val="1200"/>
              </a:spcAft>
              <a:defRPr sz="2100" b="0">
                <a:solidFill>
                  <a:srgbClr val="182D30"/>
                </a:solidFill>
                <a:latin typeface="Calibri"/>
              </a:defRPr>
            </a:pPr>
            <a:r>
              <a:t>• Server trung tâm, dữ liệu lưu bền</a:t>
            </a:r>
          </a:p>
          <a:p>
            <a:pPr>
              <a:spcAft>
                <a:spcPts val="1200"/>
              </a:spcAft>
              <a:defRPr sz="2100" b="0">
                <a:solidFill>
                  <a:srgbClr val="182D30"/>
                </a:solidFill>
                <a:latin typeface="Calibri"/>
              </a:defRPr>
            </a:pPr>
            <a:r>
              <a:t>• Sản phẩm học tập quy mô nhỏ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058400" cy="365760"/>
          </a:xfrm>
          <a:prstGeom prst="rect">
            <a:avLst/>
          </a:prstGeom>
          <a:noFill/>
        </p:spPr>
        <p:txBody>
          <a:bodyPr wrap="square">
            <a:spAutoFit/>
          </a:bodyPr>
          <a:lstStyle/>
          <a:p>
            <a:pPr>
              <a:spcAft>
                <a:spcPts val="1200"/>
              </a:spcAft>
              <a:defRPr sz="1100" b="1">
                <a:solidFill>
                  <a:srgbClr val="0F766E"/>
                </a:solidFill>
                <a:latin typeface="Calibri"/>
              </a:defRPr>
            </a:pPr>
            <a:r>
              <a:t>ĐỒ ÁN NT106</a:t>
            </a:r>
          </a:p>
        </p:txBody>
      </p:sp>
      <p:sp>
        <p:nvSpPr>
          <p:cNvPr id="4" name="TextBox 3"/>
          <p:cNvSpPr txBox="1"/>
          <p:nvPr/>
        </p:nvSpPr>
        <p:spPr>
          <a:xfrm>
            <a:off x="548640" y="777240"/>
            <a:ext cx="10972800" cy="1005840"/>
          </a:xfrm>
          <a:prstGeom prst="rect">
            <a:avLst/>
          </a:prstGeom>
          <a:noFill/>
        </p:spPr>
        <p:txBody>
          <a:bodyPr wrap="square">
            <a:spAutoFit/>
          </a:bodyPr>
          <a:lstStyle/>
          <a:p>
            <a:pPr>
              <a:spcAft>
                <a:spcPts val="1200"/>
              </a:spcAft>
              <a:defRPr sz="3200" b="1">
                <a:solidFill>
                  <a:srgbClr val="182D30"/>
                </a:solidFill>
                <a:latin typeface="Calibri"/>
              </a:defRPr>
            </a:pPr>
            <a:r>
              <a:t>Bám sát nội dung môn học</a:t>
            </a:r>
          </a:p>
        </p:txBody>
      </p:sp>
      <p:sp>
        <p:nvSpPr>
          <p:cNvPr id="5" name="TextBox 4"/>
          <p:cNvSpPr txBox="1"/>
          <p:nvPr/>
        </p:nvSpPr>
        <p:spPr>
          <a:xfrm>
            <a:off x="594360" y="6446520"/>
            <a:ext cx="10058400" cy="274320"/>
          </a:xfrm>
          <a:prstGeom prst="rect">
            <a:avLst/>
          </a:prstGeom>
          <a:noFill/>
        </p:spPr>
        <p:txBody>
          <a:bodyPr wrap="square">
            <a:spAutoFit/>
          </a:bodyPr>
          <a:lstStyle/>
          <a:p>
            <a:pPr>
              <a:spcAft>
                <a:spcPts val="1200"/>
              </a:spcAft>
              <a:defRPr sz="1000" b="0">
                <a:solidFill>
                  <a:srgbClr val="6B7D80"/>
                </a:solidFill>
                <a:latin typeface="Calibri"/>
              </a:defRPr>
            </a:pPr>
            <a:r>
              <a:t>UIT / CHAT · Bản khởi đầu — bổ sung thông tin nhóm và kết quả LAN</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200"/>
              </a:spcAft>
              <a:defRPr sz="1100" b="1">
                <a:solidFill>
                  <a:srgbClr val="0F766E"/>
                </a:solidFill>
                <a:latin typeface="Calibri"/>
              </a:defRPr>
            </a:pPr>
            <a:r>
              <a:t>03</a:t>
            </a:r>
          </a:p>
        </p:txBody>
      </p:sp>
      <p:sp>
        <p:nvSpPr>
          <p:cNvPr id="7" name="TextBox 6"/>
          <p:cNvSpPr txBox="1"/>
          <p:nvPr/>
        </p:nvSpPr>
        <p:spPr>
          <a:xfrm>
            <a:off x="640080" y="1828800"/>
            <a:ext cx="10881360" cy="4251960"/>
          </a:xfrm>
          <a:prstGeom prst="rect">
            <a:avLst/>
          </a:prstGeom>
          <a:noFill/>
        </p:spPr>
        <p:txBody>
          <a:bodyPr wrap="square">
            <a:spAutoFit/>
          </a:bodyPr>
          <a:lstStyle/>
          <a:p>
            <a:pPr>
              <a:spcAft>
                <a:spcPts val="1200"/>
              </a:spcAft>
              <a:defRPr sz="2300" b="0">
                <a:solidFill>
                  <a:srgbClr val="182D30"/>
                </a:solidFill>
                <a:latin typeface="Calibri"/>
              </a:defRPr>
            </a:pPr>
            <a:r>
              <a:t>• Chương 2: Stream, UTF-8, serialization và lưu tệp</a:t>
            </a:r>
          </a:p>
          <a:p>
            <a:pPr>
              <a:spcAft>
                <a:spcPts val="1200"/>
              </a:spcAft>
              <a:defRPr sz="2300" b="0">
                <a:solidFill>
                  <a:srgbClr val="182D30"/>
                </a:solidFill>
                <a:latin typeface="Calibri"/>
              </a:defRPr>
            </a:pPr>
            <a:r>
              <a:t>• Chương 3: TcpClient / TcpListener, IP và port</a:t>
            </a:r>
          </a:p>
          <a:p>
            <a:pPr>
              <a:spcAft>
                <a:spcPts val="1200"/>
              </a:spcAft>
              <a:defRPr sz="2300" b="0">
                <a:solidFill>
                  <a:srgbClr val="182D30"/>
                </a:solidFill>
                <a:latin typeface="Calibri"/>
              </a:defRPr>
            </a:pPr>
            <a:r>
              <a:t>• Chương 3B: đồng thời, tác vụ nền và UI thread</a:t>
            </a:r>
          </a:p>
          <a:p>
            <a:pPr>
              <a:spcAft>
                <a:spcPts val="1200"/>
              </a:spcAft>
              <a:defRPr sz="2300" b="0">
                <a:solidFill>
                  <a:srgbClr val="182D30"/>
                </a:solidFill>
                <a:latin typeface="Calibri"/>
              </a:defRPr>
            </a:pPr>
            <a:r>
              <a:t>• Chương 10: hash, mã hóa và chứng chỉ</a:t>
            </a:r>
          </a:p>
          <a:p>
            <a:pPr>
              <a:spcAft>
                <a:spcPts val="1200"/>
              </a:spcAft>
              <a:defRPr sz="2300" b="0">
                <a:solidFill>
                  <a:srgbClr val="182D30"/>
                </a:solidFill>
                <a:latin typeface="Calibri"/>
              </a:defRPr>
            </a:pPr>
            <a:r>
              <a:t>• Buổi 8–9 báo cáo quá trình; buổi 14–15 báo cáo đồ án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058400" cy="365760"/>
          </a:xfrm>
          <a:prstGeom prst="rect">
            <a:avLst/>
          </a:prstGeom>
          <a:noFill/>
        </p:spPr>
        <p:txBody>
          <a:bodyPr wrap="square">
            <a:spAutoFit/>
          </a:bodyPr>
          <a:lstStyle/>
          <a:p>
            <a:pPr>
              <a:spcAft>
                <a:spcPts val="1200"/>
              </a:spcAft>
              <a:defRPr sz="1100" b="1">
                <a:solidFill>
                  <a:srgbClr val="0F766E"/>
                </a:solidFill>
                <a:latin typeface="Calibri"/>
              </a:defRPr>
            </a:pPr>
            <a:r>
              <a:t>ĐỒ ÁN NT106</a:t>
            </a:r>
          </a:p>
        </p:txBody>
      </p:sp>
      <p:sp>
        <p:nvSpPr>
          <p:cNvPr id="4" name="TextBox 3"/>
          <p:cNvSpPr txBox="1"/>
          <p:nvPr/>
        </p:nvSpPr>
        <p:spPr>
          <a:xfrm>
            <a:off x="548640" y="777240"/>
            <a:ext cx="10972800" cy="1005840"/>
          </a:xfrm>
          <a:prstGeom prst="rect">
            <a:avLst/>
          </a:prstGeom>
          <a:noFill/>
        </p:spPr>
        <p:txBody>
          <a:bodyPr wrap="square">
            <a:spAutoFit/>
          </a:bodyPr>
          <a:lstStyle/>
          <a:p>
            <a:pPr>
              <a:spcAft>
                <a:spcPts val="1200"/>
              </a:spcAft>
              <a:defRPr sz="3200" b="1">
                <a:solidFill>
                  <a:srgbClr val="182D30"/>
                </a:solidFill>
                <a:latin typeface="Calibri"/>
              </a:defRPr>
            </a:pPr>
            <a:r>
              <a:t>Timeline và phân công dự kiến</a:t>
            </a:r>
          </a:p>
        </p:txBody>
      </p:sp>
      <p:sp>
        <p:nvSpPr>
          <p:cNvPr id="5" name="TextBox 4"/>
          <p:cNvSpPr txBox="1"/>
          <p:nvPr/>
        </p:nvSpPr>
        <p:spPr>
          <a:xfrm>
            <a:off x="594360" y="6446520"/>
            <a:ext cx="10058400" cy="274320"/>
          </a:xfrm>
          <a:prstGeom prst="rect">
            <a:avLst/>
          </a:prstGeom>
          <a:noFill/>
        </p:spPr>
        <p:txBody>
          <a:bodyPr wrap="square">
            <a:spAutoFit/>
          </a:bodyPr>
          <a:lstStyle/>
          <a:p>
            <a:pPr>
              <a:spcAft>
                <a:spcPts val="1200"/>
              </a:spcAft>
              <a:defRPr sz="1000" b="0">
                <a:solidFill>
                  <a:srgbClr val="6B7D80"/>
                </a:solidFill>
                <a:latin typeface="Calibri"/>
              </a:defRPr>
            </a:pPr>
            <a:r>
              <a:t>UIT / CHAT · Bản khởi đầu — bổ sung thông tin nhóm và kết quả LAN</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200"/>
              </a:spcAft>
              <a:defRPr sz="1100" b="1">
                <a:solidFill>
                  <a:srgbClr val="0F766E"/>
                </a:solidFill>
                <a:latin typeface="Calibri"/>
              </a:defRPr>
            </a:pPr>
            <a:r>
              <a:t>04</a:t>
            </a:r>
          </a:p>
        </p:txBody>
      </p:sp>
      <p:sp>
        <p:nvSpPr>
          <p:cNvPr id="7" name="Rounded Rectangle 6"/>
          <p:cNvSpPr/>
          <p:nvPr/>
        </p:nvSpPr>
        <p:spPr>
          <a:xfrm>
            <a:off x="594360" y="1828800"/>
            <a:ext cx="5349240" cy="4206240"/>
          </a:xfrm>
          <a:prstGeom prst="roundRect">
            <a:avLst/>
          </a:prstGeom>
          <a:solidFill>
            <a:srgbClr val="E5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72200" y="1828800"/>
            <a:ext cx="5349240"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57400"/>
            <a:ext cx="4754880" cy="548640"/>
          </a:xfrm>
          <a:prstGeom prst="rect">
            <a:avLst/>
          </a:prstGeom>
          <a:noFill/>
        </p:spPr>
        <p:txBody>
          <a:bodyPr wrap="square">
            <a:spAutoFit/>
          </a:bodyPr>
          <a:lstStyle/>
          <a:p>
            <a:pPr>
              <a:spcAft>
                <a:spcPts val="1200"/>
              </a:spcAft>
              <a:defRPr sz="2400" b="1">
                <a:solidFill>
                  <a:srgbClr val="0F766E"/>
                </a:solidFill>
                <a:latin typeface="Calibri"/>
              </a:defRPr>
            </a:pPr>
            <a:r>
              <a:t>Đến giữa kỳ</a:t>
            </a:r>
          </a:p>
        </p:txBody>
      </p:sp>
      <p:sp>
        <p:nvSpPr>
          <p:cNvPr id="10" name="TextBox 9"/>
          <p:cNvSpPr txBox="1"/>
          <p:nvPr/>
        </p:nvSpPr>
        <p:spPr>
          <a:xfrm>
            <a:off x="6446520" y="2057400"/>
            <a:ext cx="4754880" cy="548640"/>
          </a:xfrm>
          <a:prstGeom prst="rect">
            <a:avLst/>
          </a:prstGeom>
          <a:noFill/>
        </p:spPr>
        <p:txBody>
          <a:bodyPr wrap="square">
            <a:spAutoFit/>
          </a:bodyPr>
          <a:lstStyle/>
          <a:p>
            <a:pPr>
              <a:spcAft>
                <a:spcPts val="1200"/>
              </a:spcAft>
              <a:defRPr sz="2400" b="1">
                <a:solidFill>
                  <a:srgbClr val="0F766E"/>
                </a:solidFill>
                <a:latin typeface="Calibri"/>
              </a:defRPr>
            </a:pPr>
            <a:r>
              <a:t>Đến cuối kỳ</a:t>
            </a:r>
          </a:p>
        </p:txBody>
      </p:sp>
      <p:sp>
        <p:nvSpPr>
          <p:cNvPr id="11" name="TextBox 10"/>
          <p:cNvSpPr txBox="1"/>
          <p:nvPr/>
        </p:nvSpPr>
        <p:spPr>
          <a:xfrm>
            <a:off x="868680" y="2743200"/>
            <a:ext cx="4663440" cy="3108960"/>
          </a:xfrm>
          <a:prstGeom prst="rect">
            <a:avLst/>
          </a:prstGeom>
          <a:noFill/>
        </p:spPr>
        <p:txBody>
          <a:bodyPr wrap="square">
            <a:spAutoFit/>
          </a:bodyPr>
          <a:lstStyle/>
          <a:p>
            <a:pPr>
              <a:spcAft>
                <a:spcPts val="1200"/>
              </a:spcAft>
              <a:defRPr sz="2100" b="0">
                <a:solidFill>
                  <a:srgbClr val="182D30"/>
                </a:solidFill>
                <a:latin typeface="Calibri"/>
              </a:defRPr>
            </a:pPr>
            <a:r>
              <a:t>• Buổi 4–5: giao thức TCP và TLS</a:t>
            </a:r>
          </a:p>
          <a:p>
            <a:pPr>
              <a:spcAft>
                <a:spcPts val="1200"/>
              </a:spcAft>
              <a:defRPr sz="2100" b="0">
                <a:solidFill>
                  <a:srgbClr val="182D30"/>
                </a:solidFill>
                <a:latin typeface="Calibri"/>
              </a:defRPr>
            </a:pPr>
            <a:r>
              <a:t>• Buổi 5–7: xác thực, chat, lịch sử</a:t>
            </a:r>
          </a:p>
          <a:p>
            <a:pPr>
              <a:spcAft>
                <a:spcPts val="1200"/>
              </a:spcAft>
              <a:defRPr sz="2100" b="0">
                <a:solidFill>
                  <a:srgbClr val="182D30"/>
                </a:solidFill>
                <a:latin typeface="Calibri"/>
              </a:defRPr>
            </a:pPr>
            <a:r>
              <a:t>• Buổi 8–9: demo và nhận phản hồi</a:t>
            </a:r>
          </a:p>
        </p:txBody>
      </p:sp>
      <p:sp>
        <p:nvSpPr>
          <p:cNvPr id="12" name="TextBox 11"/>
          <p:cNvSpPr txBox="1"/>
          <p:nvPr/>
        </p:nvSpPr>
        <p:spPr>
          <a:xfrm>
            <a:off x="6446520" y="2743200"/>
            <a:ext cx="4663440" cy="3108960"/>
          </a:xfrm>
          <a:prstGeom prst="rect">
            <a:avLst/>
          </a:prstGeom>
          <a:noFill/>
        </p:spPr>
        <p:txBody>
          <a:bodyPr wrap="square">
            <a:spAutoFit/>
          </a:bodyPr>
          <a:lstStyle/>
          <a:p>
            <a:pPr>
              <a:spcAft>
                <a:spcPts val="1200"/>
              </a:spcAft>
              <a:defRPr sz="2100" b="0">
                <a:solidFill>
                  <a:srgbClr val="182D30"/>
                </a:solidFill>
                <a:latin typeface="Calibri"/>
              </a:defRPr>
            </a:pPr>
            <a:r>
              <a:t>• Buổi 9–11: nhóm, seen, tệp</a:t>
            </a:r>
          </a:p>
          <a:p>
            <a:pPr>
              <a:spcAft>
                <a:spcPts val="1200"/>
              </a:spcAft>
              <a:defRPr sz="2100" b="0">
                <a:solidFill>
                  <a:srgbClr val="182D30"/>
                </a:solidFill>
                <a:latin typeface="Calibri"/>
              </a:defRPr>
            </a:pPr>
            <a:r>
              <a:t>• Buổi 11–13: test LAN, chỉnh UI</a:t>
            </a:r>
          </a:p>
          <a:p>
            <a:pPr>
              <a:spcAft>
                <a:spcPts val="1200"/>
              </a:spcAft>
              <a:defRPr sz="2100" b="0">
                <a:solidFill>
                  <a:srgbClr val="182D30"/>
                </a:solidFill>
                <a:latin typeface="Calibri"/>
              </a:defRPr>
            </a:pPr>
            <a:r>
              <a:t>• Buổi 14–15: báo cáo và vấn đáp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058400" cy="365760"/>
          </a:xfrm>
          <a:prstGeom prst="rect">
            <a:avLst/>
          </a:prstGeom>
          <a:noFill/>
        </p:spPr>
        <p:txBody>
          <a:bodyPr wrap="square">
            <a:spAutoFit/>
          </a:bodyPr>
          <a:lstStyle/>
          <a:p>
            <a:pPr>
              <a:spcAft>
                <a:spcPts val="1200"/>
              </a:spcAft>
              <a:defRPr sz="1100" b="1">
                <a:solidFill>
                  <a:srgbClr val="0F766E"/>
                </a:solidFill>
                <a:latin typeface="Calibri"/>
              </a:defRPr>
            </a:pPr>
            <a:r>
              <a:t>ĐỒ ÁN NT106</a:t>
            </a:r>
          </a:p>
        </p:txBody>
      </p:sp>
      <p:sp>
        <p:nvSpPr>
          <p:cNvPr id="4" name="TextBox 3"/>
          <p:cNvSpPr txBox="1"/>
          <p:nvPr/>
        </p:nvSpPr>
        <p:spPr>
          <a:xfrm>
            <a:off x="548640" y="777240"/>
            <a:ext cx="10972800" cy="1005840"/>
          </a:xfrm>
          <a:prstGeom prst="rect">
            <a:avLst/>
          </a:prstGeom>
          <a:noFill/>
        </p:spPr>
        <p:txBody>
          <a:bodyPr wrap="square">
            <a:spAutoFit/>
          </a:bodyPr>
          <a:lstStyle/>
          <a:p>
            <a:pPr>
              <a:spcAft>
                <a:spcPts val="1200"/>
              </a:spcAft>
              <a:defRPr sz="3200" b="1">
                <a:solidFill>
                  <a:srgbClr val="182D30"/>
                </a:solidFill>
                <a:latin typeface="Calibri"/>
              </a:defRPr>
            </a:pPr>
            <a:r>
              <a:t>Kiến trúc một server, nhiều client</a:t>
            </a:r>
          </a:p>
        </p:txBody>
      </p:sp>
      <p:sp>
        <p:nvSpPr>
          <p:cNvPr id="5" name="TextBox 4"/>
          <p:cNvSpPr txBox="1"/>
          <p:nvPr/>
        </p:nvSpPr>
        <p:spPr>
          <a:xfrm>
            <a:off x="594360" y="6446520"/>
            <a:ext cx="10058400" cy="274320"/>
          </a:xfrm>
          <a:prstGeom prst="rect">
            <a:avLst/>
          </a:prstGeom>
          <a:noFill/>
        </p:spPr>
        <p:txBody>
          <a:bodyPr wrap="square">
            <a:spAutoFit/>
          </a:bodyPr>
          <a:lstStyle/>
          <a:p>
            <a:pPr>
              <a:spcAft>
                <a:spcPts val="1200"/>
              </a:spcAft>
              <a:defRPr sz="1000" b="0">
                <a:solidFill>
                  <a:srgbClr val="6B7D80"/>
                </a:solidFill>
                <a:latin typeface="Calibri"/>
              </a:defRPr>
            </a:pPr>
            <a:r>
              <a:t>UIT / CHAT · Bản khởi đầu — bổ sung thông tin nhóm và kết quả LAN</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200"/>
              </a:spcAft>
              <a:defRPr sz="1100" b="1">
                <a:solidFill>
                  <a:srgbClr val="0F766E"/>
                </a:solidFill>
                <a:latin typeface="Calibri"/>
              </a:defRPr>
            </a:pPr>
            <a:r>
              <a:t>05</a:t>
            </a:r>
          </a:p>
        </p:txBody>
      </p:sp>
      <p:sp>
        <p:nvSpPr>
          <p:cNvPr id="7" name="Rounded Rectangle 6"/>
          <p:cNvSpPr/>
          <p:nvPr/>
        </p:nvSpPr>
        <p:spPr>
          <a:xfrm>
            <a:off x="777240" y="1965960"/>
            <a:ext cx="2286000" cy="777240"/>
          </a:xfrm>
          <a:prstGeom prst="roundRect">
            <a:avLst/>
          </a:prstGeom>
          <a:solidFill>
            <a:srgbClr val="E5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121408"/>
            <a:ext cx="1828800" cy="457200"/>
          </a:xfrm>
          <a:prstGeom prst="rect">
            <a:avLst/>
          </a:prstGeom>
          <a:noFill/>
        </p:spPr>
        <p:txBody>
          <a:bodyPr wrap="square">
            <a:spAutoFit/>
          </a:bodyPr>
          <a:lstStyle/>
          <a:p>
            <a:pPr>
              <a:spcAft>
                <a:spcPts val="1200"/>
              </a:spcAft>
              <a:defRPr sz="2200" b="1">
                <a:solidFill>
                  <a:srgbClr val="0F766E"/>
                </a:solidFill>
                <a:latin typeface="Calibri"/>
              </a:defRPr>
            </a:pPr>
            <a:r>
              <a:t>Client A</a:t>
            </a:r>
          </a:p>
        </p:txBody>
      </p:sp>
      <p:cxnSp>
        <p:nvCxnSpPr>
          <p:cNvPr id="9" name="Connector 8"/>
          <p:cNvCxnSpPr/>
          <p:nvPr/>
        </p:nvCxnSpPr>
        <p:spPr>
          <a:xfrm>
            <a:off x="3063240" y="2377440"/>
            <a:ext cx="1783080" cy="1234440"/>
          </a:xfrm>
          <a:prstGeom prst="line">
            <a:avLst/>
          </a:prstGeom>
          <a:ln>
            <a:solidFill>
              <a:srgbClr val="0F766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77240" y="3200400"/>
            <a:ext cx="2286000" cy="777240"/>
          </a:xfrm>
          <a:prstGeom prst="roundRect">
            <a:avLst/>
          </a:prstGeom>
          <a:solidFill>
            <a:srgbClr val="E5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355848"/>
            <a:ext cx="1828800" cy="457200"/>
          </a:xfrm>
          <a:prstGeom prst="rect">
            <a:avLst/>
          </a:prstGeom>
          <a:noFill/>
        </p:spPr>
        <p:txBody>
          <a:bodyPr wrap="square">
            <a:spAutoFit/>
          </a:bodyPr>
          <a:lstStyle/>
          <a:p>
            <a:pPr>
              <a:spcAft>
                <a:spcPts val="1200"/>
              </a:spcAft>
              <a:defRPr sz="2200" b="1">
                <a:solidFill>
                  <a:srgbClr val="0F766E"/>
                </a:solidFill>
                <a:latin typeface="Calibri"/>
              </a:defRPr>
            </a:pPr>
            <a:r>
              <a:t>Client B</a:t>
            </a:r>
          </a:p>
        </p:txBody>
      </p:sp>
      <p:cxnSp>
        <p:nvCxnSpPr>
          <p:cNvPr id="12" name="Connector 11"/>
          <p:cNvCxnSpPr/>
          <p:nvPr/>
        </p:nvCxnSpPr>
        <p:spPr>
          <a:xfrm>
            <a:off x="3063240" y="3611880"/>
            <a:ext cx="1783080" cy="0"/>
          </a:xfrm>
          <a:prstGeom prst="line">
            <a:avLst/>
          </a:prstGeom>
          <a:ln>
            <a:solidFill>
              <a:srgbClr val="0F766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 y="4434840"/>
            <a:ext cx="2286000" cy="777240"/>
          </a:xfrm>
          <a:prstGeom prst="roundRect">
            <a:avLst/>
          </a:prstGeom>
          <a:solidFill>
            <a:srgbClr val="E5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590288"/>
            <a:ext cx="1828800" cy="457200"/>
          </a:xfrm>
          <a:prstGeom prst="rect">
            <a:avLst/>
          </a:prstGeom>
          <a:noFill/>
        </p:spPr>
        <p:txBody>
          <a:bodyPr wrap="square">
            <a:spAutoFit/>
          </a:bodyPr>
          <a:lstStyle/>
          <a:p>
            <a:pPr>
              <a:spcAft>
                <a:spcPts val="1200"/>
              </a:spcAft>
              <a:defRPr sz="2200" b="1">
                <a:solidFill>
                  <a:srgbClr val="0F766E"/>
                </a:solidFill>
                <a:latin typeface="Calibri"/>
              </a:defRPr>
            </a:pPr>
            <a:r>
              <a:t>Client C</a:t>
            </a:r>
          </a:p>
        </p:txBody>
      </p:sp>
      <p:cxnSp>
        <p:nvCxnSpPr>
          <p:cNvPr id="15" name="Connector 14"/>
          <p:cNvCxnSpPr/>
          <p:nvPr/>
        </p:nvCxnSpPr>
        <p:spPr>
          <a:xfrm flipV="1">
            <a:off x="3063240" y="3611880"/>
            <a:ext cx="1783080" cy="1234440"/>
          </a:xfrm>
          <a:prstGeom prst="line">
            <a:avLst/>
          </a:prstGeom>
          <a:ln>
            <a:solidFill>
              <a:srgbClr val="0F766E"/>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846320" y="2788920"/>
            <a:ext cx="2423160" cy="1645920"/>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74920" y="3017520"/>
            <a:ext cx="2011680" cy="1097280"/>
          </a:xfrm>
          <a:prstGeom prst="rect">
            <a:avLst/>
          </a:prstGeom>
          <a:noFill/>
        </p:spPr>
        <p:txBody>
          <a:bodyPr wrap="square">
            <a:spAutoFit/>
          </a:bodyPr>
          <a:lstStyle/>
          <a:p>
            <a:pPr>
              <a:spcAft>
                <a:spcPts val="1200"/>
              </a:spcAft>
              <a:defRPr sz="2300" b="1">
                <a:solidFill>
                  <a:srgbClr val="FFFFFF"/>
                </a:solidFill>
                <a:latin typeface="Calibri"/>
              </a:defRPr>
            </a:pPr>
            <a:r>
              <a:t>TCP + TLS</a:t>
            </a:r>
          </a:p>
          <a:p>
            <a:pPr>
              <a:spcAft>
                <a:spcPts val="1200"/>
              </a:spcAft>
              <a:defRPr sz="2300" b="1">
                <a:solidFill>
                  <a:srgbClr val="FFFFFF"/>
                </a:solidFill>
                <a:latin typeface="Calibri"/>
              </a:defRPr>
            </a:pPr>
            <a:r>
              <a:t>Chat Server</a:t>
            </a:r>
          </a:p>
        </p:txBody>
      </p:sp>
      <p:sp>
        <p:nvSpPr>
          <p:cNvPr id="18" name="Rounded Rectangle 17"/>
          <p:cNvSpPr/>
          <p:nvPr/>
        </p:nvSpPr>
        <p:spPr>
          <a:xfrm>
            <a:off x="8823960" y="2377440"/>
            <a:ext cx="2377440" cy="1005840"/>
          </a:xfrm>
          <a:prstGeom prst="roundRect">
            <a:avLst/>
          </a:prstGeom>
          <a:solidFill>
            <a:srgbClr val="E5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0" y="2606040"/>
            <a:ext cx="2011680" cy="457200"/>
          </a:xfrm>
          <a:prstGeom prst="rect">
            <a:avLst/>
          </a:prstGeom>
          <a:noFill/>
        </p:spPr>
        <p:txBody>
          <a:bodyPr wrap="square">
            <a:spAutoFit/>
          </a:bodyPr>
          <a:lstStyle/>
          <a:p>
            <a:pPr>
              <a:spcAft>
                <a:spcPts val="1200"/>
              </a:spcAft>
              <a:defRPr sz="2300" b="1">
                <a:solidFill>
                  <a:srgbClr val="0F766E"/>
                </a:solidFill>
                <a:latin typeface="Calibri"/>
              </a:defRPr>
            </a:pPr>
            <a:r>
              <a:t>chat.json</a:t>
            </a:r>
          </a:p>
        </p:txBody>
      </p:sp>
      <p:sp>
        <p:nvSpPr>
          <p:cNvPr id="20" name="Rounded Rectangle 19"/>
          <p:cNvSpPr/>
          <p:nvPr/>
        </p:nvSpPr>
        <p:spPr>
          <a:xfrm>
            <a:off x="8823960" y="4023360"/>
            <a:ext cx="2377440" cy="1005840"/>
          </a:xfrm>
          <a:prstGeom prst="roundRect">
            <a:avLst/>
          </a:prstGeom>
          <a:solidFill>
            <a:srgbClr val="E5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0" y="4251960"/>
            <a:ext cx="2011680" cy="457200"/>
          </a:xfrm>
          <a:prstGeom prst="rect">
            <a:avLst/>
          </a:prstGeom>
          <a:noFill/>
        </p:spPr>
        <p:txBody>
          <a:bodyPr wrap="square">
            <a:spAutoFit/>
          </a:bodyPr>
          <a:lstStyle/>
          <a:p>
            <a:pPr>
              <a:spcAft>
                <a:spcPts val="1200"/>
              </a:spcAft>
              <a:defRPr sz="2300" b="1">
                <a:solidFill>
                  <a:srgbClr val="0F766E"/>
                </a:solidFill>
                <a:latin typeface="Calibri"/>
              </a:defRPr>
            </a:pPr>
            <a:r>
              <a:t>files/*.bin</a:t>
            </a:r>
          </a:p>
        </p:txBody>
      </p:sp>
      <p:cxnSp>
        <p:nvCxnSpPr>
          <p:cNvPr id="22" name="Connector 21"/>
          <p:cNvCxnSpPr/>
          <p:nvPr/>
        </p:nvCxnSpPr>
        <p:spPr>
          <a:xfrm flipV="1">
            <a:off x="7269480" y="2880360"/>
            <a:ext cx="1554480" cy="731520"/>
          </a:xfrm>
          <a:prstGeom prst="line">
            <a:avLst/>
          </a:prstGeom>
          <a:ln>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269480" y="3611880"/>
            <a:ext cx="1554480" cy="914400"/>
          </a:xfrm>
          <a:prstGeom prst="line">
            <a:avLst/>
          </a:prstGeom>
          <a:ln>
            <a:solidFill>
              <a:srgbClr val="0F766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058400" cy="365760"/>
          </a:xfrm>
          <a:prstGeom prst="rect">
            <a:avLst/>
          </a:prstGeom>
          <a:noFill/>
        </p:spPr>
        <p:txBody>
          <a:bodyPr wrap="square">
            <a:spAutoFit/>
          </a:bodyPr>
          <a:lstStyle/>
          <a:p>
            <a:pPr>
              <a:spcAft>
                <a:spcPts val="1200"/>
              </a:spcAft>
              <a:defRPr sz="1100" b="1">
                <a:solidFill>
                  <a:srgbClr val="0F766E"/>
                </a:solidFill>
                <a:latin typeface="Calibri"/>
              </a:defRPr>
            </a:pPr>
            <a:r>
              <a:t>ĐỒ ÁN NT106</a:t>
            </a:r>
          </a:p>
        </p:txBody>
      </p:sp>
      <p:sp>
        <p:nvSpPr>
          <p:cNvPr id="4" name="TextBox 3"/>
          <p:cNvSpPr txBox="1"/>
          <p:nvPr/>
        </p:nvSpPr>
        <p:spPr>
          <a:xfrm>
            <a:off x="548640" y="777240"/>
            <a:ext cx="10972800" cy="1005840"/>
          </a:xfrm>
          <a:prstGeom prst="rect">
            <a:avLst/>
          </a:prstGeom>
          <a:noFill/>
        </p:spPr>
        <p:txBody>
          <a:bodyPr wrap="square">
            <a:spAutoFit/>
          </a:bodyPr>
          <a:lstStyle/>
          <a:p>
            <a:pPr>
              <a:spcAft>
                <a:spcPts val="1200"/>
              </a:spcAft>
              <a:defRPr sz="3200" b="1">
                <a:solidFill>
                  <a:srgbClr val="182D30"/>
                </a:solidFill>
                <a:latin typeface="Calibri"/>
              </a:defRPr>
            </a:pPr>
            <a:r>
              <a:t>Công nghệ và cấu trúc source</a:t>
            </a:r>
          </a:p>
        </p:txBody>
      </p:sp>
      <p:sp>
        <p:nvSpPr>
          <p:cNvPr id="5" name="TextBox 4"/>
          <p:cNvSpPr txBox="1"/>
          <p:nvPr/>
        </p:nvSpPr>
        <p:spPr>
          <a:xfrm>
            <a:off x="594360" y="6446520"/>
            <a:ext cx="10058400" cy="274320"/>
          </a:xfrm>
          <a:prstGeom prst="rect">
            <a:avLst/>
          </a:prstGeom>
          <a:noFill/>
        </p:spPr>
        <p:txBody>
          <a:bodyPr wrap="square">
            <a:spAutoFit/>
          </a:bodyPr>
          <a:lstStyle/>
          <a:p>
            <a:pPr>
              <a:spcAft>
                <a:spcPts val="1200"/>
              </a:spcAft>
              <a:defRPr sz="1000" b="0">
                <a:solidFill>
                  <a:srgbClr val="6B7D80"/>
                </a:solidFill>
                <a:latin typeface="Calibri"/>
              </a:defRPr>
            </a:pPr>
            <a:r>
              <a:t>UIT / CHAT · Bản khởi đầu — bổ sung thông tin nhóm và kết quả LAN</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200"/>
              </a:spcAft>
              <a:defRPr sz="1100" b="1">
                <a:solidFill>
                  <a:srgbClr val="0F766E"/>
                </a:solidFill>
                <a:latin typeface="Calibri"/>
              </a:defRPr>
            </a:pPr>
            <a:r>
              <a:t>06</a:t>
            </a:r>
          </a:p>
        </p:txBody>
      </p:sp>
      <p:sp>
        <p:nvSpPr>
          <p:cNvPr id="7" name="Rounded Rectangle 6"/>
          <p:cNvSpPr/>
          <p:nvPr/>
        </p:nvSpPr>
        <p:spPr>
          <a:xfrm>
            <a:off x="594360" y="1828800"/>
            <a:ext cx="5349240" cy="4206240"/>
          </a:xfrm>
          <a:prstGeom prst="roundRect">
            <a:avLst/>
          </a:prstGeom>
          <a:solidFill>
            <a:srgbClr val="E5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72200" y="1828800"/>
            <a:ext cx="5349240"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57400"/>
            <a:ext cx="4754880" cy="548640"/>
          </a:xfrm>
          <a:prstGeom prst="rect">
            <a:avLst/>
          </a:prstGeom>
          <a:noFill/>
        </p:spPr>
        <p:txBody>
          <a:bodyPr wrap="square">
            <a:spAutoFit/>
          </a:bodyPr>
          <a:lstStyle/>
          <a:p>
            <a:pPr>
              <a:spcAft>
                <a:spcPts val="1200"/>
              </a:spcAft>
              <a:defRPr sz="2400" b="1">
                <a:solidFill>
                  <a:srgbClr val="0F766E"/>
                </a:solidFill>
                <a:latin typeface="Calibri"/>
              </a:defRPr>
            </a:pPr>
            <a:r>
              <a:t>Công nghệ</a:t>
            </a:r>
          </a:p>
        </p:txBody>
      </p:sp>
      <p:sp>
        <p:nvSpPr>
          <p:cNvPr id="10" name="TextBox 9"/>
          <p:cNvSpPr txBox="1"/>
          <p:nvPr/>
        </p:nvSpPr>
        <p:spPr>
          <a:xfrm>
            <a:off x="6446520" y="2057400"/>
            <a:ext cx="4754880" cy="548640"/>
          </a:xfrm>
          <a:prstGeom prst="rect">
            <a:avLst/>
          </a:prstGeom>
          <a:noFill/>
        </p:spPr>
        <p:txBody>
          <a:bodyPr wrap="square">
            <a:spAutoFit/>
          </a:bodyPr>
          <a:lstStyle/>
          <a:p>
            <a:pPr>
              <a:spcAft>
                <a:spcPts val="1200"/>
              </a:spcAft>
              <a:defRPr sz="2400" b="1">
                <a:solidFill>
                  <a:srgbClr val="0F766E"/>
                </a:solidFill>
                <a:latin typeface="Calibri"/>
              </a:defRPr>
            </a:pPr>
            <a:r>
              <a:t>Các project</a:t>
            </a:r>
          </a:p>
        </p:txBody>
      </p:sp>
      <p:sp>
        <p:nvSpPr>
          <p:cNvPr id="11" name="TextBox 10"/>
          <p:cNvSpPr txBox="1"/>
          <p:nvPr/>
        </p:nvSpPr>
        <p:spPr>
          <a:xfrm>
            <a:off x="868680" y="2743200"/>
            <a:ext cx="4663440" cy="3108960"/>
          </a:xfrm>
          <a:prstGeom prst="rect">
            <a:avLst/>
          </a:prstGeom>
          <a:noFill/>
        </p:spPr>
        <p:txBody>
          <a:bodyPr wrap="square">
            <a:spAutoFit/>
          </a:bodyPr>
          <a:lstStyle/>
          <a:p>
            <a:pPr>
              <a:spcAft>
                <a:spcPts val="1200"/>
              </a:spcAft>
              <a:defRPr sz="2100" b="0">
                <a:solidFill>
                  <a:srgbClr val="182D30"/>
                </a:solidFill>
                <a:latin typeface="Calibri"/>
              </a:defRPr>
            </a:pPr>
            <a:r>
              <a:t>• C# / .NET 10 / WinForms</a:t>
            </a:r>
          </a:p>
          <a:p>
            <a:pPr>
              <a:spcAft>
                <a:spcPts val="1200"/>
              </a:spcAft>
              <a:defRPr sz="2100" b="0">
                <a:solidFill>
                  <a:srgbClr val="182D30"/>
                </a:solidFill>
                <a:latin typeface="Calibri"/>
              </a:defRPr>
            </a:pPr>
            <a:r>
              <a:t>• TcpListener, TcpClient, SslStream</a:t>
            </a:r>
          </a:p>
          <a:p>
            <a:pPr>
              <a:spcAft>
                <a:spcPts val="1200"/>
              </a:spcAft>
              <a:defRPr sz="2100" b="0">
                <a:solidFill>
                  <a:srgbClr val="182D30"/>
                </a:solidFill>
                <a:latin typeface="Calibri"/>
              </a:defRPr>
            </a:pPr>
            <a:r>
              <a:t>• System.Text.Json + FileStream</a:t>
            </a:r>
          </a:p>
          <a:p>
            <a:pPr>
              <a:spcAft>
                <a:spcPts val="1200"/>
              </a:spcAft>
              <a:defRPr sz="2100" b="0">
                <a:solidFill>
                  <a:srgbClr val="182D30"/>
                </a:solidFill>
                <a:latin typeface="Calibri"/>
              </a:defRPr>
            </a:pPr>
            <a:r>
              <a:t>• async/await, SemaphoreSlim, Channel</a:t>
            </a:r>
          </a:p>
        </p:txBody>
      </p:sp>
      <p:sp>
        <p:nvSpPr>
          <p:cNvPr id="12" name="TextBox 11"/>
          <p:cNvSpPr txBox="1"/>
          <p:nvPr/>
        </p:nvSpPr>
        <p:spPr>
          <a:xfrm>
            <a:off x="6446520" y="2743200"/>
            <a:ext cx="4663440" cy="3108960"/>
          </a:xfrm>
          <a:prstGeom prst="rect">
            <a:avLst/>
          </a:prstGeom>
          <a:noFill/>
        </p:spPr>
        <p:txBody>
          <a:bodyPr wrap="square">
            <a:spAutoFit/>
          </a:bodyPr>
          <a:lstStyle/>
          <a:p>
            <a:pPr>
              <a:spcAft>
                <a:spcPts val="1200"/>
              </a:spcAft>
              <a:defRPr sz="2100" b="0">
                <a:solidFill>
                  <a:srgbClr val="182D30"/>
                </a:solidFill>
                <a:latin typeface="Calibri"/>
              </a:defRPr>
            </a:pPr>
            <a:r>
              <a:t>• Chat.Core: giao thức + client</a:t>
            </a:r>
          </a:p>
          <a:p>
            <a:pPr>
              <a:spcAft>
                <a:spcPts val="1200"/>
              </a:spcAft>
              <a:defRPr sz="2100" b="0">
                <a:solidFill>
                  <a:srgbClr val="182D30"/>
                </a:solidFill>
                <a:latin typeface="Calibri"/>
              </a:defRPr>
            </a:pPr>
            <a:r>
              <a:t>• Chat.Server / Chat.Host: server</a:t>
            </a:r>
          </a:p>
          <a:p>
            <a:pPr>
              <a:spcAft>
                <a:spcPts val="1200"/>
              </a:spcAft>
              <a:defRPr sz="2100" b="0">
                <a:solidFill>
                  <a:srgbClr val="182D30"/>
                </a:solidFill>
                <a:latin typeface="Calibri"/>
              </a:defRPr>
            </a:pPr>
            <a:r>
              <a:t>• WinFormsApp1: giao diện</a:t>
            </a:r>
          </a:p>
          <a:p>
            <a:pPr>
              <a:spcAft>
                <a:spcPts val="1200"/>
              </a:spcAft>
              <a:defRPr sz="2100" b="0">
                <a:solidFill>
                  <a:srgbClr val="182D30"/>
                </a:solidFill>
                <a:latin typeface="Calibri"/>
              </a:defRPr>
            </a:pPr>
            <a:r>
              <a:t>• Chat.Tests: kiểm thử TCP thật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058400" cy="365760"/>
          </a:xfrm>
          <a:prstGeom prst="rect">
            <a:avLst/>
          </a:prstGeom>
          <a:noFill/>
        </p:spPr>
        <p:txBody>
          <a:bodyPr wrap="square">
            <a:spAutoFit/>
          </a:bodyPr>
          <a:lstStyle/>
          <a:p>
            <a:pPr>
              <a:spcAft>
                <a:spcPts val="1200"/>
              </a:spcAft>
              <a:defRPr sz="1100" b="1">
                <a:solidFill>
                  <a:srgbClr val="0F766E"/>
                </a:solidFill>
                <a:latin typeface="Calibri"/>
              </a:defRPr>
            </a:pPr>
            <a:r>
              <a:t>ĐỒ ÁN NT106</a:t>
            </a:r>
          </a:p>
        </p:txBody>
      </p:sp>
      <p:sp>
        <p:nvSpPr>
          <p:cNvPr id="4" name="TextBox 3"/>
          <p:cNvSpPr txBox="1"/>
          <p:nvPr/>
        </p:nvSpPr>
        <p:spPr>
          <a:xfrm>
            <a:off x="548640" y="777240"/>
            <a:ext cx="10972800" cy="1005840"/>
          </a:xfrm>
          <a:prstGeom prst="rect">
            <a:avLst/>
          </a:prstGeom>
          <a:noFill/>
        </p:spPr>
        <p:txBody>
          <a:bodyPr wrap="square">
            <a:spAutoFit/>
          </a:bodyPr>
          <a:lstStyle/>
          <a:p>
            <a:pPr>
              <a:spcAft>
                <a:spcPts val="1200"/>
              </a:spcAft>
              <a:defRPr sz="3200" b="1">
                <a:solidFill>
                  <a:srgbClr val="182D30"/>
                </a:solidFill>
                <a:latin typeface="Calibri"/>
              </a:defRPr>
            </a:pPr>
            <a:r>
              <a:t>Giao thức ứng dụng trên TCP</a:t>
            </a:r>
          </a:p>
        </p:txBody>
      </p:sp>
      <p:sp>
        <p:nvSpPr>
          <p:cNvPr id="5" name="TextBox 4"/>
          <p:cNvSpPr txBox="1"/>
          <p:nvPr/>
        </p:nvSpPr>
        <p:spPr>
          <a:xfrm>
            <a:off x="594360" y="6446520"/>
            <a:ext cx="10058400" cy="274320"/>
          </a:xfrm>
          <a:prstGeom prst="rect">
            <a:avLst/>
          </a:prstGeom>
          <a:noFill/>
        </p:spPr>
        <p:txBody>
          <a:bodyPr wrap="square">
            <a:spAutoFit/>
          </a:bodyPr>
          <a:lstStyle/>
          <a:p>
            <a:pPr>
              <a:spcAft>
                <a:spcPts val="1200"/>
              </a:spcAft>
              <a:defRPr sz="1000" b="0">
                <a:solidFill>
                  <a:srgbClr val="6B7D80"/>
                </a:solidFill>
                <a:latin typeface="Calibri"/>
              </a:defRPr>
            </a:pPr>
            <a:r>
              <a:t>UIT / CHAT · Bản khởi đầu — bổ sung thông tin nhóm và kết quả LAN</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200"/>
              </a:spcAft>
              <a:defRPr sz="1100" b="1">
                <a:solidFill>
                  <a:srgbClr val="0F766E"/>
                </a:solidFill>
                <a:latin typeface="Calibri"/>
              </a:defRPr>
            </a:pPr>
            <a:r>
              <a:t>07</a:t>
            </a:r>
          </a:p>
        </p:txBody>
      </p:sp>
      <p:sp>
        <p:nvSpPr>
          <p:cNvPr id="7" name="Rounded Rectangle 6"/>
          <p:cNvSpPr/>
          <p:nvPr/>
        </p:nvSpPr>
        <p:spPr>
          <a:xfrm>
            <a:off x="777240" y="1874519"/>
            <a:ext cx="2926080" cy="914400"/>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75688"/>
            <a:ext cx="2651760" cy="457200"/>
          </a:xfrm>
          <a:prstGeom prst="rect">
            <a:avLst/>
          </a:prstGeom>
          <a:noFill/>
        </p:spPr>
        <p:txBody>
          <a:bodyPr wrap="square">
            <a:spAutoFit/>
          </a:bodyPr>
          <a:lstStyle/>
          <a:p>
            <a:pPr>
              <a:spcAft>
                <a:spcPts val="1200"/>
              </a:spcAft>
              <a:defRPr sz="2400" b="1">
                <a:solidFill>
                  <a:srgbClr val="FFFFFF"/>
                </a:solidFill>
                <a:latin typeface="Calibri"/>
              </a:defRPr>
            </a:pPr>
            <a:r>
              <a:t>4 byte độ dài N</a:t>
            </a:r>
          </a:p>
        </p:txBody>
      </p:sp>
      <p:sp>
        <p:nvSpPr>
          <p:cNvPr id="9" name="Rounded Rectangle 8"/>
          <p:cNvSpPr/>
          <p:nvPr/>
        </p:nvSpPr>
        <p:spPr>
          <a:xfrm>
            <a:off x="3840480" y="1874519"/>
            <a:ext cx="7406640" cy="914400"/>
          </a:xfrm>
          <a:prstGeom prst="roundRect">
            <a:avLst/>
          </a:prstGeom>
          <a:solidFill>
            <a:srgbClr val="E5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0" y="2075688"/>
            <a:ext cx="6858000" cy="457200"/>
          </a:xfrm>
          <a:prstGeom prst="rect">
            <a:avLst/>
          </a:prstGeom>
          <a:noFill/>
        </p:spPr>
        <p:txBody>
          <a:bodyPr wrap="square">
            <a:spAutoFit/>
          </a:bodyPr>
          <a:lstStyle/>
          <a:p>
            <a:pPr>
              <a:spcAft>
                <a:spcPts val="1200"/>
              </a:spcAft>
              <a:defRPr sz="2400" b="1">
                <a:solidFill>
                  <a:srgbClr val="0F766E"/>
                </a:solidFill>
                <a:latin typeface="Calibri"/>
              </a:defRPr>
            </a:pPr>
            <a:r>
              <a:t>N byte JSON UTF-8</a:t>
            </a:r>
          </a:p>
        </p:txBody>
      </p:sp>
      <p:sp>
        <p:nvSpPr>
          <p:cNvPr id="11" name="TextBox 10"/>
          <p:cNvSpPr txBox="1"/>
          <p:nvPr/>
        </p:nvSpPr>
        <p:spPr>
          <a:xfrm>
            <a:off x="640080" y="3200400"/>
            <a:ext cx="10881360" cy="2880360"/>
          </a:xfrm>
          <a:prstGeom prst="rect">
            <a:avLst/>
          </a:prstGeom>
          <a:noFill/>
        </p:spPr>
        <p:txBody>
          <a:bodyPr wrap="square">
            <a:spAutoFit/>
          </a:bodyPr>
          <a:lstStyle/>
          <a:p>
            <a:pPr>
              <a:spcAft>
                <a:spcPts val="1200"/>
              </a:spcAft>
              <a:defRPr sz="2300" b="0">
                <a:solidFill>
                  <a:srgbClr val="182D30"/>
                </a:solidFill>
                <a:latin typeface="Calibri"/>
              </a:defRPr>
            </a:pPr>
            <a:r>
              <a:t>• ReadExactlyAsync xử lý phân mảnh và gộp dữ liệu</a:t>
            </a:r>
          </a:p>
          <a:p>
            <a:pPr>
              <a:spcAft>
                <a:spcPts val="1200"/>
              </a:spcAft>
              <a:defRPr sz="2300" b="0">
                <a:solidFill>
                  <a:srgbClr val="182D30"/>
                </a:solidFill>
                <a:latin typeface="Calibri"/>
              </a:defRPr>
            </a:pPr>
            <a:r>
              <a:t>• Request ID ghép phản hồi; clientId chống tin trùng</a:t>
            </a:r>
          </a:p>
          <a:p>
            <a:pPr>
              <a:spcAft>
                <a:spcPts val="1200"/>
              </a:spcAft>
              <a:defRPr sz="2300" b="0">
                <a:solidFill>
                  <a:srgbClr val="182D30"/>
                </a:solidFill>
                <a:latin typeface="Calibri"/>
              </a:defRPr>
            </a:pPr>
            <a:r>
              <a:t>• Server gán sender, sequence ID và UTC timestamp</a:t>
            </a:r>
          </a:p>
          <a:p>
            <a:pPr>
              <a:spcAft>
                <a:spcPts val="1200"/>
              </a:spcAft>
              <a:defRPr sz="2300" b="0">
                <a:solidFill>
                  <a:srgbClr val="182D30"/>
                </a:solidFill>
                <a:latin typeface="Calibri"/>
              </a:defRPr>
            </a:pPr>
            <a:r>
              <a:t>• Giới hạn frame 8 MiB; tệp tối đa 5 MiB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058400" cy="365760"/>
          </a:xfrm>
          <a:prstGeom prst="rect">
            <a:avLst/>
          </a:prstGeom>
          <a:noFill/>
        </p:spPr>
        <p:txBody>
          <a:bodyPr wrap="square">
            <a:spAutoFit/>
          </a:bodyPr>
          <a:lstStyle/>
          <a:p>
            <a:pPr>
              <a:spcAft>
                <a:spcPts val="1200"/>
              </a:spcAft>
              <a:defRPr sz="1100" b="1">
                <a:solidFill>
                  <a:srgbClr val="0F766E"/>
                </a:solidFill>
                <a:latin typeface="Calibri"/>
              </a:defRPr>
            </a:pPr>
            <a:r>
              <a:t>ĐỒ ÁN NT106</a:t>
            </a:r>
          </a:p>
        </p:txBody>
      </p:sp>
      <p:sp>
        <p:nvSpPr>
          <p:cNvPr id="4" name="TextBox 3"/>
          <p:cNvSpPr txBox="1"/>
          <p:nvPr/>
        </p:nvSpPr>
        <p:spPr>
          <a:xfrm>
            <a:off x="548640" y="777240"/>
            <a:ext cx="10972800" cy="1005840"/>
          </a:xfrm>
          <a:prstGeom prst="rect">
            <a:avLst/>
          </a:prstGeom>
          <a:noFill/>
        </p:spPr>
        <p:txBody>
          <a:bodyPr wrap="square">
            <a:spAutoFit/>
          </a:bodyPr>
          <a:lstStyle/>
          <a:p>
            <a:pPr>
              <a:spcAft>
                <a:spcPts val="1200"/>
              </a:spcAft>
              <a:defRPr sz="3200" b="1">
                <a:solidFill>
                  <a:srgbClr val="182D30"/>
                </a:solidFill>
                <a:latin typeface="Calibri"/>
              </a:defRPr>
            </a:pPr>
            <a:r>
              <a:t>Tính năng đã hiện thực</a:t>
            </a:r>
          </a:p>
        </p:txBody>
      </p:sp>
      <p:sp>
        <p:nvSpPr>
          <p:cNvPr id="5" name="TextBox 4"/>
          <p:cNvSpPr txBox="1"/>
          <p:nvPr/>
        </p:nvSpPr>
        <p:spPr>
          <a:xfrm>
            <a:off x="594360" y="6446520"/>
            <a:ext cx="10058400" cy="274320"/>
          </a:xfrm>
          <a:prstGeom prst="rect">
            <a:avLst/>
          </a:prstGeom>
          <a:noFill/>
        </p:spPr>
        <p:txBody>
          <a:bodyPr wrap="square">
            <a:spAutoFit/>
          </a:bodyPr>
          <a:lstStyle/>
          <a:p>
            <a:pPr>
              <a:spcAft>
                <a:spcPts val="1200"/>
              </a:spcAft>
              <a:defRPr sz="1000" b="0">
                <a:solidFill>
                  <a:srgbClr val="6B7D80"/>
                </a:solidFill>
                <a:latin typeface="Calibri"/>
              </a:defRPr>
            </a:pPr>
            <a:r>
              <a:t>UIT / CHAT · Bản khởi đầu — bổ sung thông tin nhóm và kết quả LAN</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200"/>
              </a:spcAft>
              <a:defRPr sz="1100" b="1">
                <a:solidFill>
                  <a:srgbClr val="0F766E"/>
                </a:solidFill>
                <a:latin typeface="Calibri"/>
              </a:defRPr>
            </a:pPr>
            <a:r>
              <a:t>08</a:t>
            </a:r>
          </a:p>
        </p:txBody>
      </p:sp>
      <p:sp>
        <p:nvSpPr>
          <p:cNvPr id="7" name="Rounded Rectangle 6"/>
          <p:cNvSpPr/>
          <p:nvPr/>
        </p:nvSpPr>
        <p:spPr>
          <a:xfrm>
            <a:off x="594360" y="1828800"/>
            <a:ext cx="5349240" cy="4206240"/>
          </a:xfrm>
          <a:prstGeom prst="roundRect">
            <a:avLst/>
          </a:prstGeom>
          <a:solidFill>
            <a:srgbClr val="E5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72200" y="1828800"/>
            <a:ext cx="5349240"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57400"/>
            <a:ext cx="4754880" cy="548640"/>
          </a:xfrm>
          <a:prstGeom prst="rect">
            <a:avLst/>
          </a:prstGeom>
          <a:noFill/>
        </p:spPr>
        <p:txBody>
          <a:bodyPr wrap="square">
            <a:spAutoFit/>
          </a:bodyPr>
          <a:lstStyle/>
          <a:p>
            <a:pPr>
              <a:spcAft>
                <a:spcPts val="1200"/>
              </a:spcAft>
              <a:defRPr sz="2400" b="1">
                <a:solidFill>
                  <a:srgbClr val="0F766E"/>
                </a:solidFill>
                <a:latin typeface="Calibri"/>
              </a:defRPr>
            </a:pPr>
            <a:r>
              <a:t>Tài khoản và trò chuyện</a:t>
            </a:r>
          </a:p>
        </p:txBody>
      </p:sp>
      <p:sp>
        <p:nvSpPr>
          <p:cNvPr id="10" name="TextBox 9"/>
          <p:cNvSpPr txBox="1"/>
          <p:nvPr/>
        </p:nvSpPr>
        <p:spPr>
          <a:xfrm>
            <a:off x="6446520" y="2057400"/>
            <a:ext cx="4754880" cy="548640"/>
          </a:xfrm>
          <a:prstGeom prst="rect">
            <a:avLst/>
          </a:prstGeom>
          <a:noFill/>
        </p:spPr>
        <p:txBody>
          <a:bodyPr wrap="square">
            <a:spAutoFit/>
          </a:bodyPr>
          <a:lstStyle/>
          <a:p>
            <a:pPr>
              <a:spcAft>
                <a:spcPts val="1200"/>
              </a:spcAft>
              <a:defRPr sz="2400" b="1">
                <a:solidFill>
                  <a:srgbClr val="0F766E"/>
                </a:solidFill>
                <a:latin typeface="Calibri"/>
              </a:defRPr>
            </a:pPr>
            <a:r>
              <a:t>Tương tác</a:t>
            </a:r>
          </a:p>
        </p:txBody>
      </p:sp>
      <p:sp>
        <p:nvSpPr>
          <p:cNvPr id="11" name="TextBox 10"/>
          <p:cNvSpPr txBox="1"/>
          <p:nvPr/>
        </p:nvSpPr>
        <p:spPr>
          <a:xfrm>
            <a:off x="868680" y="2743200"/>
            <a:ext cx="4663440" cy="3108960"/>
          </a:xfrm>
          <a:prstGeom prst="rect">
            <a:avLst/>
          </a:prstGeom>
          <a:noFill/>
        </p:spPr>
        <p:txBody>
          <a:bodyPr wrap="square">
            <a:spAutoFit/>
          </a:bodyPr>
          <a:lstStyle/>
          <a:p>
            <a:pPr>
              <a:spcAft>
                <a:spcPts val="1200"/>
              </a:spcAft>
              <a:defRPr sz="2100" b="0">
                <a:solidFill>
                  <a:srgbClr val="182D30"/>
                </a:solidFill>
                <a:latin typeface="Calibri"/>
              </a:defRPr>
            </a:pPr>
            <a:r>
              <a:t>• Đăng ký, đăng nhập, đăng xuất</a:t>
            </a:r>
          </a:p>
          <a:p>
            <a:pPr>
              <a:spcAft>
                <a:spcPts val="1200"/>
              </a:spcAft>
              <a:defRPr sz="2100" b="0">
                <a:solidFill>
                  <a:srgbClr val="182D30"/>
                </a:solidFill>
                <a:latin typeface="Calibri"/>
              </a:defRPr>
            </a:pPr>
            <a:r>
              <a:t>• Chat 1–1 và nhóm realtime</a:t>
            </a:r>
          </a:p>
          <a:p>
            <a:pPr>
              <a:spcAft>
                <a:spcPts val="1200"/>
              </a:spcAft>
              <a:defRPr sz="2100" b="0">
                <a:solidFill>
                  <a:srgbClr val="182D30"/>
                </a:solidFill>
                <a:latin typeface="Calibri"/>
              </a:defRPr>
            </a:pPr>
            <a:r>
              <a:t>• Lịch sử, tìm kiếm, timestamp</a:t>
            </a:r>
          </a:p>
          <a:p>
            <a:pPr>
              <a:spcAft>
                <a:spcPts val="1200"/>
              </a:spcAft>
              <a:defRPr sz="2100" b="0">
                <a:solidFill>
                  <a:srgbClr val="182D30"/>
                </a:solidFill>
                <a:latin typeface="Calibri"/>
              </a:defRPr>
            </a:pPr>
            <a:r>
              <a:t>• Online/offline và danh sách online</a:t>
            </a:r>
          </a:p>
        </p:txBody>
      </p:sp>
      <p:sp>
        <p:nvSpPr>
          <p:cNvPr id="12" name="TextBox 11"/>
          <p:cNvSpPr txBox="1"/>
          <p:nvPr/>
        </p:nvSpPr>
        <p:spPr>
          <a:xfrm>
            <a:off x="6446520" y="2743200"/>
            <a:ext cx="4663440" cy="3108960"/>
          </a:xfrm>
          <a:prstGeom prst="rect">
            <a:avLst/>
          </a:prstGeom>
          <a:noFill/>
        </p:spPr>
        <p:txBody>
          <a:bodyPr wrap="square">
            <a:spAutoFit/>
          </a:bodyPr>
          <a:lstStyle/>
          <a:p>
            <a:pPr>
              <a:spcAft>
                <a:spcPts val="1200"/>
              </a:spcAft>
              <a:defRPr sz="2100" b="0">
                <a:solidFill>
                  <a:srgbClr val="182D30"/>
                </a:solidFill>
                <a:latin typeface="Calibri"/>
              </a:defRPr>
            </a:pPr>
            <a:r>
              <a:t>• Bạn bè và lời mời kết bạn</a:t>
            </a:r>
          </a:p>
          <a:p>
            <a:pPr>
              <a:spcAft>
                <a:spcPts val="1200"/>
              </a:spcAft>
              <a:defRPr sz="2100" b="0">
                <a:solidFill>
                  <a:srgbClr val="182D30"/>
                </a:solidFill>
                <a:latin typeface="Calibri"/>
              </a:defRPr>
            </a:pPr>
            <a:r>
              <a:t>• Typing, seen, emoji Unicode</a:t>
            </a:r>
          </a:p>
          <a:p>
            <a:pPr>
              <a:spcAft>
                <a:spcPts val="1200"/>
              </a:spcAft>
              <a:defRPr sz="2100" b="0">
                <a:solidFill>
                  <a:srgbClr val="182D30"/>
                </a:solidFill>
                <a:latin typeface="Calibri"/>
              </a:defRPr>
            </a:pPr>
            <a:r>
              <a:t>• Popup và số tin chưa đọc</a:t>
            </a:r>
          </a:p>
          <a:p>
            <a:pPr>
              <a:spcAft>
                <a:spcPts val="1200"/>
              </a:spcAft>
              <a:defRPr sz="2100" b="0">
                <a:solidFill>
                  <a:srgbClr val="182D30"/>
                </a:solidFill>
                <a:latin typeface="Calibri"/>
              </a:defRPr>
            </a:pPr>
            <a:r>
              <a:t>• Gửi tệp, xem trước ảnh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058400" cy="365760"/>
          </a:xfrm>
          <a:prstGeom prst="rect">
            <a:avLst/>
          </a:prstGeom>
          <a:noFill/>
        </p:spPr>
        <p:txBody>
          <a:bodyPr wrap="square">
            <a:spAutoFit/>
          </a:bodyPr>
          <a:lstStyle/>
          <a:p>
            <a:pPr>
              <a:spcAft>
                <a:spcPts val="1200"/>
              </a:spcAft>
              <a:defRPr sz="1100" b="1">
                <a:solidFill>
                  <a:srgbClr val="0F766E"/>
                </a:solidFill>
                <a:latin typeface="Calibri"/>
              </a:defRPr>
            </a:pPr>
            <a:r>
              <a:t>ĐỒ ÁN NT106</a:t>
            </a:r>
          </a:p>
        </p:txBody>
      </p:sp>
      <p:sp>
        <p:nvSpPr>
          <p:cNvPr id="4" name="TextBox 3"/>
          <p:cNvSpPr txBox="1"/>
          <p:nvPr/>
        </p:nvSpPr>
        <p:spPr>
          <a:xfrm>
            <a:off x="548640" y="777240"/>
            <a:ext cx="10972800" cy="1005840"/>
          </a:xfrm>
          <a:prstGeom prst="rect">
            <a:avLst/>
          </a:prstGeom>
          <a:noFill/>
        </p:spPr>
        <p:txBody>
          <a:bodyPr wrap="square">
            <a:spAutoFit/>
          </a:bodyPr>
          <a:lstStyle/>
          <a:p>
            <a:pPr>
              <a:spcAft>
                <a:spcPts val="1200"/>
              </a:spcAft>
              <a:defRPr sz="3200" b="1">
                <a:solidFill>
                  <a:srgbClr val="182D30"/>
                </a:solidFill>
                <a:latin typeface="Calibri"/>
              </a:defRPr>
            </a:pPr>
            <a:r>
              <a:t>Giao diện chat nhóm</a:t>
            </a:r>
          </a:p>
        </p:txBody>
      </p:sp>
      <p:sp>
        <p:nvSpPr>
          <p:cNvPr id="5" name="TextBox 4"/>
          <p:cNvSpPr txBox="1"/>
          <p:nvPr/>
        </p:nvSpPr>
        <p:spPr>
          <a:xfrm>
            <a:off x="594360" y="6446520"/>
            <a:ext cx="10058400" cy="274320"/>
          </a:xfrm>
          <a:prstGeom prst="rect">
            <a:avLst/>
          </a:prstGeom>
          <a:noFill/>
        </p:spPr>
        <p:txBody>
          <a:bodyPr wrap="square">
            <a:spAutoFit/>
          </a:bodyPr>
          <a:lstStyle/>
          <a:p>
            <a:pPr>
              <a:spcAft>
                <a:spcPts val="1200"/>
              </a:spcAft>
              <a:defRPr sz="1000" b="0">
                <a:solidFill>
                  <a:srgbClr val="6B7D80"/>
                </a:solidFill>
                <a:latin typeface="Calibri"/>
              </a:defRPr>
            </a:pPr>
            <a:r>
              <a:t>UIT / CHAT · Bản khởi đầu — bổ sung thông tin nhóm và kết quả LAN</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200"/>
              </a:spcAft>
              <a:defRPr sz="1100" b="1">
                <a:solidFill>
                  <a:srgbClr val="0F766E"/>
                </a:solidFill>
                <a:latin typeface="Calibri"/>
              </a:defRPr>
            </a:pPr>
            <a:r>
              <a:t>09</a:t>
            </a:r>
          </a:p>
        </p:txBody>
      </p:sp>
      <p:pic>
        <p:nvPicPr>
          <p:cNvPr id="7" name="Picture 6" descr="chat.png"/>
          <p:cNvPicPr>
            <a:picLocks noChangeAspect="1"/>
          </p:cNvPicPr>
          <p:nvPr/>
        </p:nvPicPr>
        <p:blipFill>
          <a:blip r:embed="rId2"/>
          <a:stretch>
            <a:fillRect/>
          </a:stretch>
        </p:blipFill>
        <p:spPr>
          <a:xfrm>
            <a:off x="2286000" y="1737360"/>
            <a:ext cx="6508865" cy="45262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058400" cy="365760"/>
          </a:xfrm>
          <a:prstGeom prst="rect">
            <a:avLst/>
          </a:prstGeom>
          <a:noFill/>
        </p:spPr>
        <p:txBody>
          <a:bodyPr wrap="square">
            <a:spAutoFit/>
          </a:bodyPr>
          <a:lstStyle/>
          <a:p>
            <a:pPr>
              <a:spcAft>
                <a:spcPts val="1200"/>
              </a:spcAft>
              <a:defRPr sz="1100" b="1">
                <a:solidFill>
                  <a:srgbClr val="0F766E"/>
                </a:solidFill>
                <a:latin typeface="Calibri"/>
              </a:defRPr>
            </a:pPr>
            <a:r>
              <a:t>ĐỒ ÁN NT106</a:t>
            </a:r>
          </a:p>
        </p:txBody>
      </p:sp>
      <p:sp>
        <p:nvSpPr>
          <p:cNvPr id="4" name="TextBox 3"/>
          <p:cNvSpPr txBox="1"/>
          <p:nvPr/>
        </p:nvSpPr>
        <p:spPr>
          <a:xfrm>
            <a:off x="548640" y="777240"/>
            <a:ext cx="10972800" cy="1005840"/>
          </a:xfrm>
          <a:prstGeom prst="rect">
            <a:avLst/>
          </a:prstGeom>
          <a:noFill/>
        </p:spPr>
        <p:txBody>
          <a:bodyPr wrap="square">
            <a:spAutoFit/>
          </a:bodyPr>
          <a:lstStyle/>
          <a:p>
            <a:pPr>
              <a:spcAft>
                <a:spcPts val="1200"/>
              </a:spcAft>
              <a:defRPr sz="3200" b="1">
                <a:solidFill>
                  <a:srgbClr val="182D30"/>
                </a:solidFill>
                <a:latin typeface="Calibri"/>
              </a:defRPr>
            </a:pPr>
            <a:r>
              <a:t>Bảo mật và quyền truy cập</a:t>
            </a:r>
          </a:p>
        </p:txBody>
      </p:sp>
      <p:sp>
        <p:nvSpPr>
          <p:cNvPr id="5" name="TextBox 4"/>
          <p:cNvSpPr txBox="1"/>
          <p:nvPr/>
        </p:nvSpPr>
        <p:spPr>
          <a:xfrm>
            <a:off x="594360" y="6446520"/>
            <a:ext cx="10058400" cy="274320"/>
          </a:xfrm>
          <a:prstGeom prst="rect">
            <a:avLst/>
          </a:prstGeom>
          <a:noFill/>
        </p:spPr>
        <p:txBody>
          <a:bodyPr wrap="square">
            <a:spAutoFit/>
          </a:bodyPr>
          <a:lstStyle/>
          <a:p>
            <a:pPr>
              <a:spcAft>
                <a:spcPts val="1200"/>
              </a:spcAft>
              <a:defRPr sz="1000" b="0">
                <a:solidFill>
                  <a:srgbClr val="6B7D80"/>
                </a:solidFill>
                <a:latin typeface="Calibri"/>
              </a:defRPr>
            </a:pPr>
            <a:r>
              <a:t>UIT / CHAT · Bản khởi đầu — bổ sung thông tin nhóm và kết quả LAN</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200"/>
              </a:spcAft>
              <a:defRPr sz="1100" b="1">
                <a:solidFill>
                  <a:srgbClr val="0F766E"/>
                </a:solidFill>
                <a:latin typeface="Calibri"/>
              </a:defRPr>
            </a:pPr>
            <a:r>
              <a:t>10</a:t>
            </a:r>
          </a:p>
        </p:txBody>
      </p:sp>
      <p:sp>
        <p:nvSpPr>
          <p:cNvPr id="7" name="Rounded Rectangle 6"/>
          <p:cNvSpPr/>
          <p:nvPr/>
        </p:nvSpPr>
        <p:spPr>
          <a:xfrm>
            <a:off x="594360" y="1828800"/>
            <a:ext cx="5349240" cy="4206240"/>
          </a:xfrm>
          <a:prstGeom prst="roundRect">
            <a:avLst/>
          </a:prstGeom>
          <a:solidFill>
            <a:srgbClr val="E5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72200" y="1828800"/>
            <a:ext cx="5349240"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57400"/>
            <a:ext cx="4754880" cy="548640"/>
          </a:xfrm>
          <a:prstGeom prst="rect">
            <a:avLst/>
          </a:prstGeom>
          <a:noFill/>
        </p:spPr>
        <p:txBody>
          <a:bodyPr wrap="square">
            <a:spAutoFit/>
          </a:bodyPr>
          <a:lstStyle/>
          <a:p>
            <a:pPr>
              <a:spcAft>
                <a:spcPts val="1200"/>
              </a:spcAft>
              <a:defRPr sz="2400" b="1">
                <a:solidFill>
                  <a:srgbClr val="0F766E"/>
                </a:solidFill>
                <a:latin typeface="Calibri"/>
              </a:defRPr>
            </a:pPr>
            <a:r>
              <a:t>Đã triển khai</a:t>
            </a:r>
          </a:p>
        </p:txBody>
      </p:sp>
      <p:sp>
        <p:nvSpPr>
          <p:cNvPr id="10" name="TextBox 9"/>
          <p:cNvSpPr txBox="1"/>
          <p:nvPr/>
        </p:nvSpPr>
        <p:spPr>
          <a:xfrm>
            <a:off x="6446520" y="2057400"/>
            <a:ext cx="4754880" cy="548640"/>
          </a:xfrm>
          <a:prstGeom prst="rect">
            <a:avLst/>
          </a:prstGeom>
          <a:noFill/>
        </p:spPr>
        <p:txBody>
          <a:bodyPr wrap="square">
            <a:spAutoFit/>
          </a:bodyPr>
          <a:lstStyle/>
          <a:p>
            <a:pPr>
              <a:spcAft>
                <a:spcPts val="1200"/>
              </a:spcAft>
              <a:defRPr sz="2400" b="1">
                <a:solidFill>
                  <a:srgbClr val="0F766E"/>
                </a:solidFill>
                <a:latin typeface="Calibri"/>
              </a:defRPr>
            </a:pPr>
            <a:r>
              <a:t>Giới hạn rõ ràng</a:t>
            </a:r>
          </a:p>
        </p:txBody>
      </p:sp>
      <p:sp>
        <p:nvSpPr>
          <p:cNvPr id="11" name="TextBox 10"/>
          <p:cNvSpPr txBox="1"/>
          <p:nvPr/>
        </p:nvSpPr>
        <p:spPr>
          <a:xfrm>
            <a:off x="868680" y="2743200"/>
            <a:ext cx="4663440" cy="3108960"/>
          </a:xfrm>
          <a:prstGeom prst="rect">
            <a:avLst/>
          </a:prstGeom>
          <a:noFill/>
        </p:spPr>
        <p:txBody>
          <a:bodyPr wrap="square">
            <a:spAutoFit/>
          </a:bodyPr>
          <a:lstStyle/>
          <a:p>
            <a:pPr>
              <a:spcAft>
                <a:spcPts val="1200"/>
              </a:spcAft>
              <a:defRPr sz="2100" b="0">
                <a:solidFill>
                  <a:srgbClr val="182D30"/>
                </a:solidFill>
                <a:latin typeface="Calibri"/>
              </a:defRPr>
            </a:pPr>
            <a:r>
              <a:t>• PBKDF2-HMAC-SHA256 + salt</a:t>
            </a:r>
          </a:p>
          <a:p>
            <a:pPr>
              <a:spcAft>
                <a:spcPts val="1200"/>
              </a:spcAft>
              <a:defRPr sz="2100" b="0">
                <a:solidFill>
                  <a:srgbClr val="182D30"/>
                </a:solidFill>
                <a:latin typeface="Calibri"/>
              </a:defRPr>
            </a:pPr>
            <a:r>
              <a:t>• TLS + pin SHA-256 certificate</a:t>
            </a:r>
          </a:p>
          <a:p>
            <a:pPr>
              <a:spcAft>
                <a:spcPts val="1200"/>
              </a:spcAft>
              <a:defRPr sz="2100" b="0">
                <a:solidFill>
                  <a:srgbClr val="182D30"/>
                </a:solidFill>
                <a:latin typeface="Calibri"/>
              </a:defRPr>
            </a:pPr>
            <a:r>
              <a:t>• Sender gắn với phiên xác thực</a:t>
            </a:r>
          </a:p>
          <a:p>
            <a:pPr>
              <a:spcAft>
                <a:spcPts val="1200"/>
              </a:spcAft>
              <a:defRPr sz="2100" b="0">
                <a:solidFill>
                  <a:srgbClr val="182D30"/>
                </a:solidFill>
                <a:latin typeface="Calibri"/>
              </a:defRPr>
            </a:pPr>
            <a:r>
              <a:t>• Membership kiểm tra ở server</a:t>
            </a:r>
          </a:p>
        </p:txBody>
      </p:sp>
      <p:sp>
        <p:nvSpPr>
          <p:cNvPr id="12" name="TextBox 11"/>
          <p:cNvSpPr txBox="1"/>
          <p:nvPr/>
        </p:nvSpPr>
        <p:spPr>
          <a:xfrm>
            <a:off x="6446520" y="2743200"/>
            <a:ext cx="4663440" cy="3108960"/>
          </a:xfrm>
          <a:prstGeom prst="rect">
            <a:avLst/>
          </a:prstGeom>
          <a:noFill/>
        </p:spPr>
        <p:txBody>
          <a:bodyPr wrap="square">
            <a:spAutoFit/>
          </a:bodyPr>
          <a:lstStyle/>
          <a:p>
            <a:pPr>
              <a:spcAft>
                <a:spcPts val="1200"/>
              </a:spcAft>
              <a:defRPr sz="2100" b="0">
                <a:solidFill>
                  <a:srgbClr val="182D30"/>
                </a:solidFill>
                <a:latin typeface="Calibri"/>
              </a:defRPr>
            </a:pPr>
            <a:r>
              <a:t>• Không phải mã hóa đầu cuối</a:t>
            </a:r>
          </a:p>
          <a:p>
            <a:pPr>
              <a:spcAft>
                <a:spcPts val="1200"/>
              </a:spcAft>
              <a:defRPr sz="2100" b="0">
                <a:solidFill>
                  <a:srgbClr val="182D30"/>
                </a:solidFill>
                <a:latin typeface="Calibri"/>
              </a:defRPr>
            </a:pPr>
            <a:r>
              <a:t>• Tin nhắn trên đĩa là bản rõ</a:t>
            </a:r>
          </a:p>
          <a:p>
            <a:pPr>
              <a:spcAft>
                <a:spcPts val="1200"/>
              </a:spcAft>
              <a:defRPr sz="2100" b="0">
                <a:solidFill>
                  <a:srgbClr val="182D30"/>
                </a:solidFill>
                <a:latin typeface="Calibri"/>
              </a:defRPr>
            </a:pPr>
            <a:r>
              <a:t>• Chưa lưu token đăng nhập</a:t>
            </a:r>
          </a:p>
          <a:p>
            <a:pPr>
              <a:spcAft>
                <a:spcPts val="1200"/>
              </a:spcAft>
              <a:defRPr sz="2100" b="0">
                <a:solidFill>
                  <a:srgbClr val="182D30"/>
                </a:solidFill>
                <a:latin typeface="Calibri"/>
              </a:defRPr>
            </a:pPr>
            <a:r>
              <a:t>• Chưa có Google / email / SĐT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058400" cy="365760"/>
          </a:xfrm>
          <a:prstGeom prst="rect">
            <a:avLst/>
          </a:prstGeom>
          <a:noFill/>
        </p:spPr>
        <p:txBody>
          <a:bodyPr wrap="square">
            <a:spAutoFit/>
          </a:bodyPr>
          <a:lstStyle/>
          <a:p>
            <a:pPr>
              <a:spcAft>
                <a:spcPts val="1200"/>
              </a:spcAft>
              <a:defRPr sz="1100" b="1">
                <a:solidFill>
                  <a:srgbClr val="0F766E"/>
                </a:solidFill>
                <a:latin typeface="Calibri"/>
              </a:defRPr>
            </a:pPr>
            <a:r>
              <a:t>ĐỒ ÁN NT106</a:t>
            </a:r>
          </a:p>
        </p:txBody>
      </p:sp>
      <p:sp>
        <p:nvSpPr>
          <p:cNvPr id="4" name="TextBox 3"/>
          <p:cNvSpPr txBox="1"/>
          <p:nvPr/>
        </p:nvSpPr>
        <p:spPr>
          <a:xfrm>
            <a:off x="548640" y="777240"/>
            <a:ext cx="10972800" cy="1005840"/>
          </a:xfrm>
          <a:prstGeom prst="rect">
            <a:avLst/>
          </a:prstGeom>
          <a:noFill/>
        </p:spPr>
        <p:txBody>
          <a:bodyPr wrap="square">
            <a:spAutoFit/>
          </a:bodyPr>
          <a:lstStyle/>
          <a:p>
            <a:pPr>
              <a:spcAft>
                <a:spcPts val="1200"/>
              </a:spcAft>
              <a:defRPr sz="3200" b="1">
                <a:solidFill>
                  <a:srgbClr val="182D30"/>
                </a:solidFill>
                <a:latin typeface="Calibri"/>
              </a:defRPr>
            </a:pPr>
            <a:r>
              <a:t>Đồng thời và tính nhất quán</a:t>
            </a:r>
          </a:p>
        </p:txBody>
      </p:sp>
      <p:sp>
        <p:nvSpPr>
          <p:cNvPr id="5" name="TextBox 4"/>
          <p:cNvSpPr txBox="1"/>
          <p:nvPr/>
        </p:nvSpPr>
        <p:spPr>
          <a:xfrm>
            <a:off x="594360" y="6446520"/>
            <a:ext cx="10058400" cy="274320"/>
          </a:xfrm>
          <a:prstGeom prst="rect">
            <a:avLst/>
          </a:prstGeom>
          <a:noFill/>
        </p:spPr>
        <p:txBody>
          <a:bodyPr wrap="square">
            <a:spAutoFit/>
          </a:bodyPr>
          <a:lstStyle/>
          <a:p>
            <a:pPr>
              <a:spcAft>
                <a:spcPts val="1200"/>
              </a:spcAft>
              <a:defRPr sz="1000" b="0">
                <a:solidFill>
                  <a:srgbClr val="6B7D80"/>
                </a:solidFill>
                <a:latin typeface="Calibri"/>
              </a:defRPr>
            </a:pPr>
            <a:r>
              <a:t>UIT / CHAT · Bản khởi đầu — bổ sung thông tin nhóm và kết quả LAN</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200"/>
              </a:spcAft>
              <a:defRPr sz="1100" b="1">
                <a:solidFill>
                  <a:srgbClr val="0F766E"/>
                </a:solidFill>
                <a:latin typeface="Calibri"/>
              </a:defRPr>
            </a:pPr>
            <a:r>
              <a:t>11</a:t>
            </a:r>
          </a:p>
        </p:txBody>
      </p:sp>
      <p:sp>
        <p:nvSpPr>
          <p:cNvPr id="7" name="TextBox 6"/>
          <p:cNvSpPr txBox="1"/>
          <p:nvPr/>
        </p:nvSpPr>
        <p:spPr>
          <a:xfrm>
            <a:off x="640080" y="1828800"/>
            <a:ext cx="10881360" cy="4251960"/>
          </a:xfrm>
          <a:prstGeom prst="rect">
            <a:avLst/>
          </a:prstGeom>
          <a:noFill/>
        </p:spPr>
        <p:txBody>
          <a:bodyPr wrap="square">
            <a:spAutoFit/>
          </a:bodyPr>
          <a:lstStyle/>
          <a:p>
            <a:pPr>
              <a:spcAft>
                <a:spcPts val="1200"/>
              </a:spcAft>
              <a:defRPr sz="2300" b="0">
                <a:solidFill>
                  <a:srgbClr val="182D30"/>
                </a:solidFill>
                <a:latin typeface="Calibri"/>
              </a:defRPr>
            </a:pPr>
            <a:r>
              <a:t>• Mỗi client có vòng nhận và hàng đợi gửi riêng</a:t>
            </a:r>
          </a:p>
          <a:p>
            <a:pPr>
              <a:spcAft>
                <a:spcPts val="1200"/>
              </a:spcAft>
              <a:defRPr sz="2300" b="0">
                <a:solidFill>
                  <a:srgbClr val="182D30"/>
                </a:solidFill>
                <a:latin typeface="Calibri"/>
              </a:defRPr>
            </a:pPr>
            <a:r>
              <a:t>• Semaphore bảo vệ giao dịch và ID tin nhắn</a:t>
            </a:r>
          </a:p>
          <a:p>
            <a:pPr>
              <a:spcAft>
                <a:spcPts val="1200"/>
              </a:spcAft>
              <a:defRPr sz="2300" b="0">
                <a:solidFill>
                  <a:srgbClr val="182D30"/>
                </a:solidFill>
                <a:latin typeface="Calibri"/>
              </a:defRPr>
            </a:pPr>
            <a:r>
              <a:t>• Ghi tệp tạm → flush → thay thế tệp chính → ACK</a:t>
            </a:r>
          </a:p>
          <a:p>
            <a:pPr>
              <a:spcAft>
                <a:spcPts val="1200"/>
              </a:spcAft>
              <a:defRPr sz="2300" b="0">
                <a:solidFill>
                  <a:srgbClr val="182D30"/>
                </a:solidFill>
                <a:latin typeface="Calibri"/>
              </a:defRPr>
            </a:pPr>
            <a:r>
              <a:t>• Lỗi ghi: giữ trạng thái cũ, không báo gửi thành công</a:t>
            </a:r>
          </a:p>
          <a:p>
            <a:pPr>
              <a:spcAft>
                <a:spcPts val="1200"/>
              </a:spcAft>
              <a:defRPr sz="2300" b="0">
                <a:solidFill>
                  <a:srgbClr val="182D30"/>
                </a:solidFill>
                <a:latin typeface="Calibri"/>
              </a:defRPr>
            </a:pPr>
            <a:r>
              <a:t>• UI nhận event qua BeginInvoke; hợp nhất tin theo ID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058400" cy="365760"/>
          </a:xfrm>
          <a:prstGeom prst="rect">
            <a:avLst/>
          </a:prstGeom>
          <a:noFill/>
        </p:spPr>
        <p:txBody>
          <a:bodyPr wrap="square">
            <a:spAutoFit/>
          </a:bodyPr>
          <a:lstStyle/>
          <a:p>
            <a:pPr>
              <a:spcAft>
                <a:spcPts val="1200"/>
              </a:spcAft>
              <a:defRPr sz="1100" b="1">
                <a:solidFill>
                  <a:srgbClr val="0F766E"/>
                </a:solidFill>
                <a:latin typeface="Calibri"/>
              </a:defRPr>
            </a:pPr>
            <a:r>
              <a:t>ĐỒ ÁN NT106</a:t>
            </a:r>
          </a:p>
        </p:txBody>
      </p:sp>
      <p:sp>
        <p:nvSpPr>
          <p:cNvPr id="4" name="TextBox 3"/>
          <p:cNvSpPr txBox="1"/>
          <p:nvPr/>
        </p:nvSpPr>
        <p:spPr>
          <a:xfrm>
            <a:off x="548640" y="777240"/>
            <a:ext cx="10972800" cy="1005840"/>
          </a:xfrm>
          <a:prstGeom prst="rect">
            <a:avLst/>
          </a:prstGeom>
          <a:noFill/>
        </p:spPr>
        <p:txBody>
          <a:bodyPr wrap="square">
            <a:spAutoFit/>
          </a:bodyPr>
          <a:lstStyle/>
          <a:p>
            <a:pPr>
              <a:spcAft>
                <a:spcPts val="1200"/>
              </a:spcAft>
              <a:defRPr sz="3200" b="1">
                <a:solidFill>
                  <a:srgbClr val="182D30"/>
                </a:solidFill>
                <a:latin typeface="Calibri"/>
              </a:defRPr>
            </a:pPr>
            <a:r>
              <a:t>Kiểm thử và bằng chứng</a:t>
            </a:r>
          </a:p>
        </p:txBody>
      </p:sp>
      <p:sp>
        <p:nvSpPr>
          <p:cNvPr id="5" name="TextBox 4"/>
          <p:cNvSpPr txBox="1"/>
          <p:nvPr/>
        </p:nvSpPr>
        <p:spPr>
          <a:xfrm>
            <a:off x="594360" y="6446520"/>
            <a:ext cx="10058400" cy="274320"/>
          </a:xfrm>
          <a:prstGeom prst="rect">
            <a:avLst/>
          </a:prstGeom>
          <a:noFill/>
        </p:spPr>
        <p:txBody>
          <a:bodyPr wrap="square">
            <a:spAutoFit/>
          </a:bodyPr>
          <a:lstStyle/>
          <a:p>
            <a:pPr>
              <a:spcAft>
                <a:spcPts val="1200"/>
              </a:spcAft>
              <a:defRPr sz="1000" b="0">
                <a:solidFill>
                  <a:srgbClr val="6B7D80"/>
                </a:solidFill>
                <a:latin typeface="Calibri"/>
              </a:defRPr>
            </a:pPr>
            <a:r>
              <a:t>UIT / CHAT · Bản khởi đầu — bổ sung thông tin nhóm và kết quả LAN</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200"/>
              </a:spcAft>
              <a:defRPr sz="1100" b="1">
                <a:solidFill>
                  <a:srgbClr val="0F766E"/>
                </a:solidFill>
                <a:latin typeface="Calibri"/>
              </a:defRPr>
            </a:pPr>
            <a:r>
              <a:t>12</a:t>
            </a:r>
          </a:p>
        </p:txBody>
      </p:sp>
      <p:sp>
        <p:nvSpPr>
          <p:cNvPr id="7" name="Rounded Rectangle 6"/>
          <p:cNvSpPr/>
          <p:nvPr/>
        </p:nvSpPr>
        <p:spPr>
          <a:xfrm>
            <a:off x="594360" y="1828800"/>
            <a:ext cx="5349240" cy="4206240"/>
          </a:xfrm>
          <a:prstGeom prst="roundRect">
            <a:avLst/>
          </a:prstGeom>
          <a:solidFill>
            <a:srgbClr val="E5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72200" y="1828800"/>
            <a:ext cx="5349240"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57400"/>
            <a:ext cx="4754880" cy="548640"/>
          </a:xfrm>
          <a:prstGeom prst="rect">
            <a:avLst/>
          </a:prstGeom>
          <a:noFill/>
        </p:spPr>
        <p:txBody>
          <a:bodyPr wrap="square">
            <a:spAutoFit/>
          </a:bodyPr>
          <a:lstStyle/>
          <a:p>
            <a:pPr>
              <a:spcAft>
                <a:spcPts val="1200"/>
              </a:spcAft>
              <a:defRPr sz="2400" b="1">
                <a:solidFill>
                  <a:srgbClr val="0F766E"/>
                </a:solidFill>
                <a:latin typeface="Calibri"/>
              </a:defRPr>
            </a:pPr>
            <a:r>
              <a:t>Tự động trên máy hiện tại</a:t>
            </a:r>
          </a:p>
        </p:txBody>
      </p:sp>
      <p:sp>
        <p:nvSpPr>
          <p:cNvPr id="10" name="TextBox 9"/>
          <p:cNvSpPr txBox="1"/>
          <p:nvPr/>
        </p:nvSpPr>
        <p:spPr>
          <a:xfrm>
            <a:off x="6446520" y="2057400"/>
            <a:ext cx="4754880" cy="548640"/>
          </a:xfrm>
          <a:prstGeom prst="rect">
            <a:avLst/>
          </a:prstGeom>
          <a:noFill/>
        </p:spPr>
        <p:txBody>
          <a:bodyPr wrap="square">
            <a:spAutoFit/>
          </a:bodyPr>
          <a:lstStyle/>
          <a:p>
            <a:pPr>
              <a:spcAft>
                <a:spcPts val="1200"/>
              </a:spcAft>
              <a:defRPr sz="2400" b="1">
                <a:solidFill>
                  <a:srgbClr val="0F766E"/>
                </a:solidFill>
                <a:latin typeface="Calibri"/>
              </a:defRPr>
            </a:pPr>
            <a:r>
              <a:t>Nhóm cần bổ sung</a:t>
            </a:r>
          </a:p>
        </p:txBody>
      </p:sp>
      <p:sp>
        <p:nvSpPr>
          <p:cNvPr id="11" name="TextBox 10"/>
          <p:cNvSpPr txBox="1"/>
          <p:nvPr/>
        </p:nvSpPr>
        <p:spPr>
          <a:xfrm>
            <a:off x="868680" y="2743200"/>
            <a:ext cx="4663440" cy="3108960"/>
          </a:xfrm>
          <a:prstGeom prst="rect">
            <a:avLst/>
          </a:prstGeom>
          <a:noFill/>
        </p:spPr>
        <p:txBody>
          <a:bodyPr wrap="square">
            <a:spAutoFit/>
          </a:bodyPr>
          <a:lstStyle/>
          <a:p>
            <a:pPr>
              <a:spcAft>
                <a:spcPts val="1200"/>
              </a:spcAft>
              <a:defRPr sz="2100" b="0">
                <a:solidFill>
                  <a:srgbClr val="182D30"/>
                </a:solidFill>
                <a:latin typeface="Calibri"/>
              </a:defRPr>
            </a:pPr>
            <a:r>
              <a:t>• 54 kiểm tra integration đạt</a:t>
            </a:r>
          </a:p>
          <a:p>
            <a:pPr>
              <a:spcAft>
                <a:spcPts val="1200"/>
              </a:spcAft>
              <a:defRPr sz="2100" b="0">
                <a:solidFill>
                  <a:srgbClr val="182D30"/>
                </a:solidFill>
                <a:latin typeface="Calibri"/>
              </a:defRPr>
            </a:pPr>
            <a:r>
              <a:t>• TCP/TLS thật, nhiều client gửi</a:t>
            </a:r>
          </a:p>
          <a:p>
            <a:pPr>
              <a:spcAft>
                <a:spcPts val="1200"/>
              </a:spcAft>
              <a:defRPr sz="2100" b="0">
                <a:solidFill>
                  <a:srgbClr val="182D30"/>
                </a:solidFill>
                <a:latin typeface="Calibri"/>
              </a:defRPr>
            </a:pPr>
            <a:r>
              <a:t>• Phân quyền, lỗi lưu, restart</a:t>
            </a:r>
          </a:p>
          <a:p>
            <a:pPr>
              <a:spcAft>
                <a:spcPts val="1200"/>
              </a:spcAft>
              <a:defRPr sz="2100" b="0">
                <a:solidFill>
                  <a:srgbClr val="182D30"/>
                </a:solidFill>
                <a:latin typeface="Calibri"/>
              </a:defRPr>
            </a:pPr>
            <a:r>
              <a:t>• UI smoke gửi qua nút WinForms</a:t>
            </a:r>
          </a:p>
        </p:txBody>
      </p:sp>
      <p:sp>
        <p:nvSpPr>
          <p:cNvPr id="12" name="TextBox 11"/>
          <p:cNvSpPr txBox="1"/>
          <p:nvPr/>
        </p:nvSpPr>
        <p:spPr>
          <a:xfrm>
            <a:off x="6446520" y="2743200"/>
            <a:ext cx="4663440" cy="3108960"/>
          </a:xfrm>
          <a:prstGeom prst="rect">
            <a:avLst/>
          </a:prstGeom>
          <a:noFill/>
        </p:spPr>
        <p:txBody>
          <a:bodyPr wrap="square">
            <a:spAutoFit/>
          </a:bodyPr>
          <a:lstStyle/>
          <a:p>
            <a:pPr>
              <a:spcAft>
                <a:spcPts val="1200"/>
              </a:spcAft>
              <a:defRPr sz="2100" b="0">
                <a:solidFill>
                  <a:srgbClr val="182D30"/>
                </a:solidFill>
                <a:latin typeface="Calibri"/>
              </a:defRPr>
            </a:pPr>
            <a:r>
              <a:t>• Hai máy vật lý trên LAN</a:t>
            </a:r>
          </a:p>
          <a:p>
            <a:pPr>
              <a:spcAft>
                <a:spcPts val="1200"/>
              </a:spcAft>
              <a:defRPr sz="2100" b="0">
                <a:solidFill>
                  <a:srgbClr val="182D30"/>
                </a:solidFill>
                <a:latin typeface="Calibri"/>
              </a:defRPr>
            </a:pPr>
            <a:r>
              <a:t>• Mất Wi-Fi và firewall</a:t>
            </a:r>
          </a:p>
          <a:p>
            <a:pPr>
              <a:spcAft>
                <a:spcPts val="1200"/>
              </a:spcAft>
              <a:defRPr sz="2100" b="0">
                <a:solidFill>
                  <a:srgbClr val="182D30"/>
                </a:solidFill>
                <a:latin typeface="Calibri"/>
              </a:defRPr>
            </a:pPr>
            <a:r>
              <a:t>• DPI 125% / 150%, popup/focus</a:t>
            </a:r>
          </a:p>
          <a:p>
            <a:pPr>
              <a:spcAft>
                <a:spcPts val="1200"/>
              </a:spcAft>
              <a:defRPr sz="2100" b="0">
                <a:solidFill>
                  <a:srgbClr val="182D30"/>
                </a:solidFill>
                <a:latin typeface="Calibri"/>
              </a:defRPr>
            </a:pPr>
            <a:r>
              <a:t>• Đo tải nếu muốn nêu hiệu năng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058400" cy="365760"/>
          </a:xfrm>
          <a:prstGeom prst="rect">
            <a:avLst/>
          </a:prstGeom>
          <a:noFill/>
        </p:spPr>
        <p:txBody>
          <a:bodyPr wrap="square">
            <a:spAutoFit/>
          </a:bodyPr>
          <a:lstStyle/>
          <a:p>
            <a:pPr>
              <a:spcAft>
                <a:spcPts val="1200"/>
              </a:spcAft>
              <a:defRPr sz="1100" b="1">
                <a:solidFill>
                  <a:srgbClr val="0F766E"/>
                </a:solidFill>
                <a:latin typeface="Calibri"/>
              </a:defRPr>
            </a:pPr>
            <a:r>
              <a:t>ĐỒ ÁN NT106</a:t>
            </a:r>
          </a:p>
        </p:txBody>
      </p:sp>
      <p:sp>
        <p:nvSpPr>
          <p:cNvPr id="4" name="TextBox 3"/>
          <p:cNvSpPr txBox="1"/>
          <p:nvPr/>
        </p:nvSpPr>
        <p:spPr>
          <a:xfrm>
            <a:off x="548640" y="777240"/>
            <a:ext cx="10972800" cy="1005840"/>
          </a:xfrm>
          <a:prstGeom prst="rect">
            <a:avLst/>
          </a:prstGeom>
          <a:noFill/>
        </p:spPr>
        <p:txBody>
          <a:bodyPr wrap="square">
            <a:spAutoFit/>
          </a:bodyPr>
          <a:lstStyle/>
          <a:p>
            <a:pPr>
              <a:spcAft>
                <a:spcPts val="1200"/>
              </a:spcAft>
              <a:defRPr sz="3200" b="1">
                <a:solidFill>
                  <a:srgbClr val="182D30"/>
                </a:solidFill>
                <a:latin typeface="Calibri"/>
              </a:defRPr>
            </a:pPr>
            <a:r>
              <a:t>Những khó khăn và cách giải quyết</a:t>
            </a:r>
          </a:p>
        </p:txBody>
      </p:sp>
      <p:sp>
        <p:nvSpPr>
          <p:cNvPr id="5" name="TextBox 4"/>
          <p:cNvSpPr txBox="1"/>
          <p:nvPr/>
        </p:nvSpPr>
        <p:spPr>
          <a:xfrm>
            <a:off x="594360" y="6446520"/>
            <a:ext cx="10058400" cy="274320"/>
          </a:xfrm>
          <a:prstGeom prst="rect">
            <a:avLst/>
          </a:prstGeom>
          <a:noFill/>
        </p:spPr>
        <p:txBody>
          <a:bodyPr wrap="square">
            <a:spAutoFit/>
          </a:bodyPr>
          <a:lstStyle/>
          <a:p>
            <a:pPr>
              <a:spcAft>
                <a:spcPts val="1200"/>
              </a:spcAft>
              <a:defRPr sz="1000" b="0">
                <a:solidFill>
                  <a:srgbClr val="6B7D80"/>
                </a:solidFill>
                <a:latin typeface="Calibri"/>
              </a:defRPr>
            </a:pPr>
            <a:r>
              <a:t>UIT / CHAT · Bản khởi đầu — bổ sung thông tin nhóm và kết quả LAN</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200"/>
              </a:spcAft>
              <a:defRPr sz="1100" b="1">
                <a:solidFill>
                  <a:srgbClr val="0F766E"/>
                </a:solidFill>
                <a:latin typeface="Calibri"/>
              </a:defRPr>
            </a:pPr>
            <a:r>
              <a:t>13</a:t>
            </a:r>
          </a:p>
        </p:txBody>
      </p:sp>
      <p:sp>
        <p:nvSpPr>
          <p:cNvPr id="7" name="TextBox 6"/>
          <p:cNvSpPr txBox="1"/>
          <p:nvPr/>
        </p:nvSpPr>
        <p:spPr>
          <a:xfrm>
            <a:off x="640080" y="1828800"/>
            <a:ext cx="10881360" cy="4251960"/>
          </a:xfrm>
          <a:prstGeom prst="rect">
            <a:avLst/>
          </a:prstGeom>
          <a:noFill/>
        </p:spPr>
        <p:txBody>
          <a:bodyPr wrap="square">
            <a:spAutoFit/>
          </a:bodyPr>
          <a:lstStyle/>
          <a:p>
            <a:pPr>
              <a:spcAft>
                <a:spcPts val="1200"/>
              </a:spcAft>
              <a:defRPr sz="2300" b="0">
                <a:solidFill>
                  <a:srgbClr val="182D30"/>
                </a:solidFill>
                <a:latin typeface="Calibri"/>
              </a:defRPr>
            </a:pPr>
            <a:r>
              <a:t>• JSON bị cắt/gộp → khung độ dài + đọc đủ byte</a:t>
            </a:r>
          </a:p>
          <a:p>
            <a:pPr>
              <a:spcAft>
                <a:spcPts val="1200"/>
              </a:spcAft>
              <a:defRPr sz="2300" b="0">
                <a:solidFill>
                  <a:srgbClr val="182D30"/>
                </a:solidFill>
                <a:latin typeface="Calibri"/>
              </a:defRPr>
            </a:pPr>
            <a:r>
              <a:t>• Nhiều client ghi cùng lúc → transaction + sequence</a:t>
            </a:r>
          </a:p>
          <a:p>
            <a:pPr>
              <a:spcAft>
                <a:spcPts val="1200"/>
              </a:spcAft>
              <a:defRPr sz="2300" b="0">
                <a:solidFill>
                  <a:srgbClr val="182D30"/>
                </a:solidFill>
                <a:latin typeface="Calibri"/>
              </a:defRPr>
            </a:pPr>
            <a:r>
              <a:t>• UI bị treo/cross-thread → async I/O + BeginInvoke</a:t>
            </a:r>
          </a:p>
          <a:p>
            <a:pPr>
              <a:spcAft>
                <a:spcPts val="1200"/>
              </a:spcAft>
              <a:defRPr sz="2300" b="0">
                <a:solidFill>
                  <a:srgbClr val="182D30"/>
                </a:solidFill>
                <a:latin typeface="Calibri"/>
              </a:defRPr>
            </a:pPr>
            <a:r>
              <a:t>• Mất mạng sau gửi → ACK sau commit, kiểm tra lịch sử</a:t>
            </a:r>
          </a:p>
          <a:p>
            <a:pPr>
              <a:spcAft>
                <a:spcPts val="1200"/>
              </a:spcAft>
              <a:defRPr sz="2300" b="0">
                <a:solidFill>
                  <a:srgbClr val="182D30"/>
                </a:solidFill>
                <a:latin typeface="Calibri"/>
              </a:defRPr>
            </a:pPr>
            <a:r>
              <a:t>• Thành viên cũ gọi API → kiểm tra quyền ở server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058400" cy="365760"/>
          </a:xfrm>
          <a:prstGeom prst="rect">
            <a:avLst/>
          </a:prstGeom>
          <a:noFill/>
        </p:spPr>
        <p:txBody>
          <a:bodyPr wrap="square">
            <a:spAutoFit/>
          </a:bodyPr>
          <a:lstStyle/>
          <a:p>
            <a:pPr>
              <a:spcAft>
                <a:spcPts val="1200"/>
              </a:spcAft>
              <a:defRPr sz="1100" b="1">
                <a:solidFill>
                  <a:srgbClr val="0F766E"/>
                </a:solidFill>
                <a:latin typeface="Calibri"/>
              </a:defRPr>
            </a:pPr>
            <a:r>
              <a:t>ĐỒ ÁN NT106</a:t>
            </a:r>
          </a:p>
        </p:txBody>
      </p:sp>
      <p:sp>
        <p:nvSpPr>
          <p:cNvPr id="4" name="TextBox 3"/>
          <p:cNvSpPr txBox="1"/>
          <p:nvPr/>
        </p:nvSpPr>
        <p:spPr>
          <a:xfrm>
            <a:off x="548640" y="777240"/>
            <a:ext cx="10972800" cy="1005840"/>
          </a:xfrm>
          <a:prstGeom prst="rect">
            <a:avLst/>
          </a:prstGeom>
          <a:noFill/>
        </p:spPr>
        <p:txBody>
          <a:bodyPr wrap="square">
            <a:spAutoFit/>
          </a:bodyPr>
          <a:lstStyle/>
          <a:p>
            <a:pPr>
              <a:spcAft>
                <a:spcPts val="1200"/>
              </a:spcAft>
              <a:defRPr sz="3200" b="1">
                <a:solidFill>
                  <a:srgbClr val="182D30"/>
                </a:solidFill>
                <a:latin typeface="Calibri"/>
              </a:defRPr>
            </a:pPr>
            <a:r>
              <a:t>Kịch bản demo live</a:t>
            </a:r>
          </a:p>
        </p:txBody>
      </p:sp>
      <p:sp>
        <p:nvSpPr>
          <p:cNvPr id="5" name="TextBox 4"/>
          <p:cNvSpPr txBox="1"/>
          <p:nvPr/>
        </p:nvSpPr>
        <p:spPr>
          <a:xfrm>
            <a:off x="594360" y="6446520"/>
            <a:ext cx="10058400" cy="274320"/>
          </a:xfrm>
          <a:prstGeom prst="rect">
            <a:avLst/>
          </a:prstGeom>
          <a:noFill/>
        </p:spPr>
        <p:txBody>
          <a:bodyPr wrap="square">
            <a:spAutoFit/>
          </a:bodyPr>
          <a:lstStyle/>
          <a:p>
            <a:pPr>
              <a:spcAft>
                <a:spcPts val="1200"/>
              </a:spcAft>
              <a:defRPr sz="1000" b="0">
                <a:solidFill>
                  <a:srgbClr val="6B7D80"/>
                </a:solidFill>
                <a:latin typeface="Calibri"/>
              </a:defRPr>
            </a:pPr>
            <a:r>
              <a:t>UIT / CHAT · Bản khởi đầu — bổ sung thông tin nhóm và kết quả LAN</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200"/>
              </a:spcAft>
              <a:defRPr sz="1100" b="1">
                <a:solidFill>
                  <a:srgbClr val="0F766E"/>
                </a:solidFill>
                <a:latin typeface="Calibri"/>
              </a:defRPr>
            </a:pPr>
            <a:r>
              <a:t>14</a:t>
            </a:r>
          </a:p>
        </p:txBody>
      </p:sp>
      <p:sp>
        <p:nvSpPr>
          <p:cNvPr id="7" name="TextBox 6"/>
          <p:cNvSpPr txBox="1"/>
          <p:nvPr/>
        </p:nvSpPr>
        <p:spPr>
          <a:xfrm>
            <a:off x="640080" y="1828800"/>
            <a:ext cx="10881360" cy="4251960"/>
          </a:xfrm>
          <a:prstGeom prst="rect">
            <a:avLst/>
          </a:prstGeom>
          <a:noFill/>
        </p:spPr>
        <p:txBody>
          <a:bodyPr wrap="square">
            <a:spAutoFit/>
          </a:bodyPr>
          <a:lstStyle/>
          <a:p>
            <a:pPr>
              <a:spcAft>
                <a:spcPts val="1200"/>
              </a:spcAft>
              <a:defRPr sz="2300" b="0">
                <a:solidFill>
                  <a:srgbClr val="182D30"/>
                </a:solidFill>
                <a:latin typeface="Calibri"/>
              </a:defRPr>
            </a:pPr>
            <a:r>
              <a:t>• 1. Server + hai client; đăng ký và đăng nhập</a:t>
            </a:r>
          </a:p>
          <a:p>
            <a:pPr>
              <a:spcAft>
                <a:spcPts val="1200"/>
              </a:spcAft>
              <a:defRPr sz="2300" b="0">
                <a:solidFill>
                  <a:srgbClr val="182D30"/>
                </a:solidFill>
                <a:latin typeface="Calibri"/>
              </a:defRPr>
            </a:pPr>
            <a:r>
              <a:t>• 2. Kết bạn → chat → typing → seen → popup</a:t>
            </a:r>
          </a:p>
          <a:p>
            <a:pPr>
              <a:spcAft>
                <a:spcPts val="1200"/>
              </a:spcAft>
              <a:defRPr sz="2300" b="0">
                <a:solidFill>
                  <a:srgbClr val="182D30"/>
                </a:solidFill>
                <a:latin typeface="Calibri"/>
              </a:defRPr>
            </a:pPr>
            <a:r>
              <a:t>• 3. Tạo nhóm; thêm/xóa thành viên</a:t>
            </a:r>
          </a:p>
          <a:p>
            <a:pPr>
              <a:spcAft>
                <a:spcPts val="1200"/>
              </a:spcAft>
              <a:defRPr sz="2300" b="0">
                <a:solidFill>
                  <a:srgbClr val="182D30"/>
                </a:solidFill>
                <a:latin typeface="Calibri"/>
              </a:defRPr>
            </a:pPr>
            <a:r>
              <a:t>• 4. Gửi ảnh/tệp; tìm lịch sử; thử giới hạn 5 MB</a:t>
            </a:r>
          </a:p>
          <a:p>
            <a:pPr>
              <a:spcAft>
                <a:spcPts val="1200"/>
              </a:spcAft>
              <a:defRPr sz="2300" b="0">
                <a:solidFill>
                  <a:srgbClr val="182D30"/>
                </a:solidFill>
                <a:latin typeface="Calibri"/>
              </a:defRPr>
            </a:pPr>
            <a:r>
              <a:t>• 5. Restart server và kiểm tra dữ liệu còn nguyên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058400" cy="365760"/>
          </a:xfrm>
          <a:prstGeom prst="rect">
            <a:avLst/>
          </a:prstGeom>
          <a:noFill/>
        </p:spPr>
        <p:txBody>
          <a:bodyPr wrap="square">
            <a:spAutoFit/>
          </a:bodyPr>
          <a:lstStyle/>
          <a:p>
            <a:pPr>
              <a:spcAft>
                <a:spcPts val="1200"/>
              </a:spcAft>
              <a:defRPr sz="1100" b="1">
                <a:solidFill>
                  <a:srgbClr val="0F766E"/>
                </a:solidFill>
                <a:latin typeface="Calibri"/>
              </a:defRPr>
            </a:pPr>
            <a:r>
              <a:t>ĐỒ ÁN NT106</a:t>
            </a:r>
          </a:p>
        </p:txBody>
      </p:sp>
      <p:sp>
        <p:nvSpPr>
          <p:cNvPr id="4" name="TextBox 3"/>
          <p:cNvSpPr txBox="1"/>
          <p:nvPr/>
        </p:nvSpPr>
        <p:spPr>
          <a:xfrm>
            <a:off x="548640" y="777240"/>
            <a:ext cx="10972800" cy="1005840"/>
          </a:xfrm>
          <a:prstGeom prst="rect">
            <a:avLst/>
          </a:prstGeom>
          <a:noFill/>
        </p:spPr>
        <p:txBody>
          <a:bodyPr wrap="square">
            <a:spAutoFit/>
          </a:bodyPr>
          <a:lstStyle/>
          <a:p>
            <a:pPr>
              <a:spcAft>
                <a:spcPts val="1200"/>
              </a:spcAft>
              <a:defRPr sz="3200" b="1">
                <a:solidFill>
                  <a:srgbClr val="182D30"/>
                </a:solidFill>
                <a:latin typeface="Calibri"/>
              </a:defRPr>
            </a:pPr>
            <a:r>
              <a:t>Đúc kết và hướng phát triển</a:t>
            </a:r>
          </a:p>
        </p:txBody>
      </p:sp>
      <p:sp>
        <p:nvSpPr>
          <p:cNvPr id="5" name="TextBox 4"/>
          <p:cNvSpPr txBox="1"/>
          <p:nvPr/>
        </p:nvSpPr>
        <p:spPr>
          <a:xfrm>
            <a:off x="594360" y="6446520"/>
            <a:ext cx="10058400" cy="274320"/>
          </a:xfrm>
          <a:prstGeom prst="rect">
            <a:avLst/>
          </a:prstGeom>
          <a:noFill/>
        </p:spPr>
        <p:txBody>
          <a:bodyPr wrap="square">
            <a:spAutoFit/>
          </a:bodyPr>
          <a:lstStyle/>
          <a:p>
            <a:pPr>
              <a:spcAft>
                <a:spcPts val="1200"/>
              </a:spcAft>
              <a:defRPr sz="1000" b="0">
                <a:solidFill>
                  <a:srgbClr val="6B7D80"/>
                </a:solidFill>
                <a:latin typeface="Calibri"/>
              </a:defRPr>
            </a:pPr>
            <a:r>
              <a:t>UIT / CHAT · Bản khởi đầu — bổ sung thông tin nhóm và kết quả LAN</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200"/>
              </a:spcAft>
              <a:defRPr sz="1100" b="1">
                <a:solidFill>
                  <a:srgbClr val="0F766E"/>
                </a:solidFill>
                <a:latin typeface="Calibri"/>
              </a:defRPr>
            </a:pPr>
            <a:r>
              <a:t>15</a:t>
            </a:r>
          </a:p>
        </p:txBody>
      </p:sp>
      <p:sp>
        <p:nvSpPr>
          <p:cNvPr id="7" name="Rounded Rectangle 6"/>
          <p:cNvSpPr/>
          <p:nvPr/>
        </p:nvSpPr>
        <p:spPr>
          <a:xfrm>
            <a:off x="594360" y="1828800"/>
            <a:ext cx="5349240" cy="4206240"/>
          </a:xfrm>
          <a:prstGeom prst="roundRect">
            <a:avLst/>
          </a:prstGeom>
          <a:solidFill>
            <a:srgbClr val="E5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72200" y="1828800"/>
            <a:ext cx="5349240"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57400"/>
            <a:ext cx="4754880" cy="548640"/>
          </a:xfrm>
          <a:prstGeom prst="rect">
            <a:avLst/>
          </a:prstGeom>
          <a:noFill/>
        </p:spPr>
        <p:txBody>
          <a:bodyPr wrap="square">
            <a:spAutoFit/>
          </a:bodyPr>
          <a:lstStyle/>
          <a:p>
            <a:pPr>
              <a:spcAft>
                <a:spcPts val="1200"/>
              </a:spcAft>
              <a:defRPr sz="2400" b="1">
                <a:solidFill>
                  <a:srgbClr val="0F766E"/>
                </a:solidFill>
                <a:latin typeface="Calibri"/>
              </a:defRPr>
            </a:pPr>
            <a:r>
              <a:t>Bài học</a:t>
            </a:r>
          </a:p>
        </p:txBody>
      </p:sp>
      <p:sp>
        <p:nvSpPr>
          <p:cNvPr id="10" name="TextBox 9"/>
          <p:cNvSpPr txBox="1"/>
          <p:nvPr/>
        </p:nvSpPr>
        <p:spPr>
          <a:xfrm>
            <a:off x="6446520" y="2057400"/>
            <a:ext cx="4754880" cy="548640"/>
          </a:xfrm>
          <a:prstGeom prst="rect">
            <a:avLst/>
          </a:prstGeom>
          <a:noFill/>
        </p:spPr>
        <p:txBody>
          <a:bodyPr wrap="square">
            <a:spAutoFit/>
          </a:bodyPr>
          <a:lstStyle/>
          <a:p>
            <a:pPr>
              <a:spcAft>
                <a:spcPts val="1200"/>
              </a:spcAft>
              <a:defRPr sz="2400" b="1">
                <a:solidFill>
                  <a:srgbClr val="0F766E"/>
                </a:solidFill>
                <a:latin typeface="Calibri"/>
              </a:defRPr>
            </a:pPr>
            <a:r>
              <a:t>Bước tiếp theo</a:t>
            </a:r>
          </a:p>
        </p:txBody>
      </p:sp>
      <p:sp>
        <p:nvSpPr>
          <p:cNvPr id="11" name="TextBox 10"/>
          <p:cNvSpPr txBox="1"/>
          <p:nvPr/>
        </p:nvSpPr>
        <p:spPr>
          <a:xfrm>
            <a:off x="868680" y="2743200"/>
            <a:ext cx="4663440" cy="3108960"/>
          </a:xfrm>
          <a:prstGeom prst="rect">
            <a:avLst/>
          </a:prstGeom>
          <a:noFill/>
        </p:spPr>
        <p:txBody>
          <a:bodyPr wrap="square">
            <a:spAutoFit/>
          </a:bodyPr>
          <a:lstStyle/>
          <a:p>
            <a:pPr>
              <a:spcAft>
                <a:spcPts val="1200"/>
              </a:spcAft>
              <a:defRPr sz="2100" b="0">
                <a:solidFill>
                  <a:srgbClr val="182D30"/>
                </a:solidFill>
                <a:latin typeface="Calibri"/>
              </a:defRPr>
            </a:pPr>
            <a:r>
              <a:t>• TCP không có ranh giới tin</a:t>
            </a:r>
          </a:p>
          <a:p>
            <a:pPr>
              <a:spcAft>
                <a:spcPts val="1200"/>
              </a:spcAft>
              <a:defRPr sz="2100" b="0">
                <a:solidFill>
                  <a:srgbClr val="182D30"/>
                </a:solidFill>
                <a:latin typeface="Calibri"/>
              </a:defRPr>
            </a:pPr>
            <a:r>
              <a:t>• Đồng thời cần bảo vệ trạng thái</a:t>
            </a:r>
          </a:p>
          <a:p>
            <a:pPr>
              <a:spcAft>
                <a:spcPts val="1200"/>
              </a:spcAft>
              <a:defRPr sz="2100" b="0">
                <a:solidFill>
                  <a:srgbClr val="182D30"/>
                </a:solidFill>
                <a:latin typeface="Calibri"/>
              </a:defRPr>
            </a:pPr>
            <a:r>
              <a:t>• UI và mạng phải tách luồng</a:t>
            </a:r>
          </a:p>
          <a:p>
            <a:pPr>
              <a:spcAft>
                <a:spcPts val="1200"/>
              </a:spcAft>
              <a:defRPr sz="2100" b="0">
                <a:solidFill>
                  <a:srgbClr val="182D30"/>
                </a:solidFill>
                <a:latin typeface="Calibri"/>
              </a:defRPr>
            </a:pPr>
            <a:r>
              <a:t>• Bảo mật cần cả xác thực và quyền</a:t>
            </a:r>
          </a:p>
        </p:txBody>
      </p:sp>
      <p:sp>
        <p:nvSpPr>
          <p:cNvPr id="12" name="TextBox 11"/>
          <p:cNvSpPr txBox="1"/>
          <p:nvPr/>
        </p:nvSpPr>
        <p:spPr>
          <a:xfrm>
            <a:off x="6446520" y="2743200"/>
            <a:ext cx="4663440" cy="3108960"/>
          </a:xfrm>
          <a:prstGeom prst="rect">
            <a:avLst/>
          </a:prstGeom>
          <a:noFill/>
        </p:spPr>
        <p:txBody>
          <a:bodyPr wrap="square">
            <a:spAutoFit/>
          </a:bodyPr>
          <a:lstStyle/>
          <a:p>
            <a:pPr>
              <a:spcAft>
                <a:spcPts val="1200"/>
              </a:spcAft>
              <a:defRPr sz="2100" b="0">
                <a:solidFill>
                  <a:srgbClr val="182D30"/>
                </a:solidFill>
                <a:latin typeface="Calibri"/>
              </a:defRPr>
            </a:pPr>
            <a:r>
              <a:t>• SQLite + index thay JSON toàn bộ</a:t>
            </a:r>
          </a:p>
          <a:p>
            <a:pPr>
              <a:spcAft>
                <a:spcPts val="1200"/>
              </a:spcAft>
              <a:defRPr sz="2100" b="0">
                <a:solidFill>
                  <a:srgbClr val="182D30"/>
                </a:solidFill>
                <a:latin typeface="Calibri"/>
              </a:defRPr>
            </a:pPr>
            <a:r>
              <a:t>• Token phiên + DPAPI</a:t>
            </a:r>
          </a:p>
          <a:p>
            <a:pPr>
              <a:spcAft>
                <a:spcPts val="1200"/>
              </a:spcAft>
              <a:defRPr sz="2100" b="0">
                <a:solidFill>
                  <a:srgbClr val="182D30"/>
                </a:solidFill>
                <a:latin typeface="Calibri"/>
              </a:defRPr>
            </a:pPr>
            <a:r>
              <a:t>• Reconnect + hàng đợi bền vững</a:t>
            </a:r>
          </a:p>
          <a:p>
            <a:pPr>
              <a:spcAft>
                <a:spcPts val="1200"/>
              </a:spcAft>
              <a:defRPr sz="2100" b="0">
                <a:solidFill>
                  <a:srgbClr val="182D30"/>
                </a:solidFill>
                <a:latin typeface="Calibri"/>
              </a:defRPr>
            </a:pPr>
            <a:r>
              <a:t>• Upload chunk; media; E2EE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058400" cy="365760"/>
          </a:xfrm>
          <a:prstGeom prst="rect">
            <a:avLst/>
          </a:prstGeom>
          <a:noFill/>
        </p:spPr>
        <p:txBody>
          <a:bodyPr wrap="square">
            <a:spAutoFit/>
          </a:bodyPr>
          <a:lstStyle/>
          <a:p>
            <a:pPr>
              <a:spcAft>
                <a:spcPts val="1200"/>
              </a:spcAft>
              <a:defRPr sz="1100" b="1">
                <a:solidFill>
                  <a:srgbClr val="0F766E"/>
                </a:solidFill>
                <a:latin typeface="Calibri"/>
              </a:defRPr>
            </a:pPr>
            <a:r>
              <a:t>ĐỒ ÁN NT106</a:t>
            </a:r>
          </a:p>
        </p:txBody>
      </p:sp>
      <p:sp>
        <p:nvSpPr>
          <p:cNvPr id="4" name="TextBox 3"/>
          <p:cNvSpPr txBox="1"/>
          <p:nvPr/>
        </p:nvSpPr>
        <p:spPr>
          <a:xfrm>
            <a:off x="548640" y="777240"/>
            <a:ext cx="10972800" cy="1005840"/>
          </a:xfrm>
          <a:prstGeom prst="rect">
            <a:avLst/>
          </a:prstGeom>
          <a:noFill/>
        </p:spPr>
        <p:txBody>
          <a:bodyPr wrap="square">
            <a:spAutoFit/>
          </a:bodyPr>
          <a:lstStyle/>
          <a:p>
            <a:pPr>
              <a:spcAft>
                <a:spcPts val="1200"/>
              </a:spcAft>
              <a:defRPr sz="3200" b="1">
                <a:solidFill>
                  <a:srgbClr val="182D30"/>
                </a:solidFill>
                <a:latin typeface="Calibri"/>
              </a:defRPr>
            </a:pPr>
            <a:r>
              <a:t>Câu hỏi lý thuyết để thảo luận</a:t>
            </a:r>
          </a:p>
        </p:txBody>
      </p:sp>
      <p:sp>
        <p:nvSpPr>
          <p:cNvPr id="5" name="TextBox 4"/>
          <p:cNvSpPr txBox="1"/>
          <p:nvPr/>
        </p:nvSpPr>
        <p:spPr>
          <a:xfrm>
            <a:off x="594360" y="6446520"/>
            <a:ext cx="10058400" cy="274320"/>
          </a:xfrm>
          <a:prstGeom prst="rect">
            <a:avLst/>
          </a:prstGeom>
          <a:noFill/>
        </p:spPr>
        <p:txBody>
          <a:bodyPr wrap="square">
            <a:spAutoFit/>
          </a:bodyPr>
          <a:lstStyle/>
          <a:p>
            <a:pPr>
              <a:spcAft>
                <a:spcPts val="1200"/>
              </a:spcAft>
              <a:defRPr sz="1000" b="0">
                <a:solidFill>
                  <a:srgbClr val="6B7D80"/>
                </a:solidFill>
                <a:latin typeface="Calibri"/>
              </a:defRPr>
            </a:pPr>
            <a:r>
              <a:t>UIT / CHAT · Bản khởi đầu — bổ sung thông tin nhóm và kết quả LAN</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200"/>
              </a:spcAft>
              <a:defRPr sz="1100" b="1">
                <a:solidFill>
                  <a:srgbClr val="0F766E"/>
                </a:solidFill>
                <a:latin typeface="Calibri"/>
              </a:defRPr>
            </a:pPr>
            <a:r>
              <a:t>16</a:t>
            </a:r>
          </a:p>
        </p:txBody>
      </p:sp>
      <p:sp>
        <p:nvSpPr>
          <p:cNvPr id="7" name="TextBox 6"/>
          <p:cNvSpPr txBox="1"/>
          <p:nvPr/>
        </p:nvSpPr>
        <p:spPr>
          <a:xfrm>
            <a:off x="822960" y="1874519"/>
            <a:ext cx="10515600" cy="1463040"/>
          </a:xfrm>
          <a:prstGeom prst="rect">
            <a:avLst/>
          </a:prstGeom>
          <a:noFill/>
        </p:spPr>
        <p:txBody>
          <a:bodyPr wrap="square">
            <a:spAutoFit/>
          </a:bodyPr>
          <a:lstStyle/>
          <a:p>
            <a:pPr>
              <a:spcAft>
                <a:spcPts val="1200"/>
              </a:spcAft>
              <a:defRPr sz="3400" b="1">
                <a:solidFill>
                  <a:srgbClr val="0F766E"/>
                </a:solidFill>
                <a:latin typeface="Calibri"/>
              </a:defRPr>
            </a:pPr>
            <a:r>
              <a:t>Vì sao TCP đã tin cậy mà</a:t>
            </a:r>
          </a:p>
          <a:p>
            <a:pPr>
              <a:spcAft>
                <a:spcPts val="1200"/>
              </a:spcAft>
              <a:defRPr sz="3400" b="1">
                <a:solidFill>
                  <a:srgbClr val="0F766E"/>
                </a:solidFill>
                <a:latin typeface="Calibri"/>
              </a:defRPr>
            </a:pPr>
            <a:r>
              <a:t>ứng dụng vẫn cần ACK và “đã xem”?</a:t>
            </a:r>
          </a:p>
        </p:txBody>
      </p:sp>
      <p:sp>
        <p:nvSpPr>
          <p:cNvPr id="8" name="TextBox 7"/>
          <p:cNvSpPr txBox="1"/>
          <p:nvPr/>
        </p:nvSpPr>
        <p:spPr>
          <a:xfrm>
            <a:off x="868680" y="3840480"/>
            <a:ext cx="10149840" cy="1554480"/>
          </a:xfrm>
          <a:prstGeom prst="rect">
            <a:avLst/>
          </a:prstGeom>
          <a:noFill/>
        </p:spPr>
        <p:txBody>
          <a:bodyPr wrap="square">
            <a:spAutoFit/>
          </a:bodyPr>
          <a:lstStyle/>
          <a:p>
            <a:pPr>
              <a:spcAft>
                <a:spcPts val="1200"/>
              </a:spcAft>
              <a:defRPr sz="2500" b="0">
                <a:solidFill>
                  <a:srgbClr val="182D30"/>
                </a:solidFill>
                <a:latin typeface="Calibri"/>
              </a:defRPr>
            </a:pPr>
            <a:r>
              <a:t>TCP xác nhận truyền byte.</a:t>
            </a:r>
          </a:p>
          <a:p>
            <a:pPr>
              <a:spcAft>
                <a:spcPts val="1200"/>
              </a:spcAft>
              <a:defRPr sz="2500" b="0">
                <a:solidFill>
                  <a:srgbClr val="182D30"/>
                </a:solidFill>
                <a:latin typeface="Calibri"/>
              </a:defRPr>
            </a:pPr>
            <a:r>
              <a:t>ACK ứng dụng xác nhận server đã lưu.</a:t>
            </a:r>
          </a:p>
          <a:p>
            <a:pPr>
              <a:spcAft>
                <a:spcPts val="1200"/>
              </a:spcAft>
              <a:defRPr sz="2500" b="0">
                <a:solidFill>
                  <a:srgbClr val="182D30"/>
                </a:solidFill>
                <a:latin typeface="Calibri"/>
              </a:defRPr>
            </a:pPr>
            <a:r>
              <a:t>Read receipt xác nhận thao tác đọc của client.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